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9"/>
  </p:notesMasterIdLst>
  <p:sldIdLst>
    <p:sldId id="291" r:id="rId2"/>
    <p:sldId id="281" r:id="rId3"/>
    <p:sldId id="290" r:id="rId4"/>
    <p:sldId id="293" r:id="rId5"/>
    <p:sldId id="294" r:id="rId6"/>
    <p:sldId id="296" r:id="rId7"/>
  </p:sldIdLst>
  <p:sldSz cx="12192000" cy="6858000"/>
  <p:notesSz cx="6858000" cy="9144000"/>
  <p:defaultTextStyle>
    <a:defPPr>
      <a:defRPr lang="en-US"/>
    </a:defPPr>
    <a:lvl1pPr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1pPr>
    <a:lvl2pPr marL="4572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2pPr>
    <a:lvl3pPr marL="9144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3pPr>
    <a:lvl4pPr marL="13716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4pPr>
    <a:lvl5pPr marL="18288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BBB59"/>
    <a:srgbClr val="39B0D4"/>
    <a:srgbClr val="727272"/>
    <a:srgbClr val="010000"/>
    <a:srgbClr val="FFA751"/>
    <a:srgbClr val="32323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68" d="100"/>
          <a:sy n="68" d="100"/>
        </p:scale>
        <p:origin x="792" y="72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25" d="100"/>
        <a:sy n="125" d="100"/>
      </p:scale>
      <p:origin x="0" y="0"/>
    </p:cViewPr>
  </p:sorter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C4D5ADD5-2BBC-4A94-8F86-D9013941F742}" type="datetimeFigureOut">
              <a:rPr lang="en-US"/>
              <a:pPr/>
              <a:t>6/2/2026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EC790738-CFC9-4A5E-8424-6B42AA5706F7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749454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ＭＳ Ｐゴシック" charset="0"/>
      </a:defRPr>
    </a:lvl1pPr>
    <a:lvl2pPr marL="4572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2pPr>
    <a:lvl3pPr marL="9144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3pPr>
    <a:lvl4pPr marL="13716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4pPr>
    <a:lvl5pPr marL="18288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6386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638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65F62A7E-A2F8-438F-9CF8-47DE63F471B4}" type="slidenum">
              <a:rPr lang="en-US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407322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0CA7B74D-3791-4AC6-8451-F10DBCCCDD9A}" type="slidenum">
              <a:rPr lang="en-US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52062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7350546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4172284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08672725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8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60792E3-D524-454C-8AFD-A91972900BCB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B7E1BAA-A38D-40DE-B22C-DF9BD7D8205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708B7524-32A2-4C20-A58C-BC3BAA1042FC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77C3CE7-23F7-4828-823C-E0205DF2CF9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3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1E994447-D6B2-43BB-A877-57F1A267B999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1DB31D2-2A87-4F4C-A9AD-05C6CC2B321D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68920E16-BD35-483C-AA6B-346FC7E46DEA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1FC16D9-1635-4844-816A-0A8A2160FADA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9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9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EAC6F8-5103-4FC0-A69E-5C6AE6469DA8}" type="datetime1">
              <a:rPr lang="en-US" smtClean="0"/>
              <a:t>6/2/2026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71C4100A-98DE-4944-910A-A93F5CA9F724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60C6921-0627-4C8F-83D5-0CF936D2FFDD}" type="datetime1">
              <a:rPr lang="en-US" smtClean="0"/>
              <a:t>6/2/2026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A63342B-5A73-45DC-864D-086DE78037EF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F08AD7-8103-40F8-983C-E2BA6BB9CBE0}" type="datetime1">
              <a:rPr lang="en-US" smtClean="0"/>
              <a:t>6/2/2026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635AFB3-1ACD-44AC-8702-86B1729DF03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2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3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2" y="1435103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DF8C06B4-9380-4A4D-AF49-A3596E17DAF5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05CF15F3-5E77-4C57-9E21-50D6D1D6C022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F7FDEF1-C582-4E22-9E77-D68326471F28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242169A-B3C7-4FB6-967F-AF95F4EB331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053C3A68-6922-42D3-8905-ECC2D82A3469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4FDD027-5576-4F27-AAB6-1D994836EE7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41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41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B69E9F4-7604-4950-A8B2-8ACDEDB1506E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957CE61-8714-431B-A40A-01B1C5541AB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609600" y="-47625"/>
            <a:ext cx="109728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600" y="1095375"/>
            <a:ext cx="10972800" cy="50307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780A9602-A9A9-453F-AEF1-37B5837E02CD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TradeGothic"/>
                <a:ea typeface="+mn-ea"/>
                <a:cs typeface="+mn-cs"/>
              </a:defRPr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1411BA53-830D-4830-BB65-E58DBE17D0B7}" type="slidenum">
              <a:rPr lang="en-US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ctr" defTabSz="457200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2pPr>
      <a:lvl3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3pPr>
      <a:lvl4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4pPr>
      <a:lvl5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5pPr>
      <a:lvl6pPr marL="4572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6pPr>
      <a:lvl7pPr marL="9144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7pPr>
      <a:lvl8pPr marL="13716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8pPr>
      <a:lvl9pPr marL="18288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32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marL="742950" indent="-28575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8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2pPr>
      <a:lvl3pPr marL="11430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24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3pPr>
      <a:lvl4pPr marL="16002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4pPr>
      <a:lvl5pPr marL="20574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6" name="Rectangle 24">
            <a:extLst>
              <a:ext uri="{FF2B5EF4-FFF2-40B4-BE49-F238E27FC236}">
                <a16:creationId xmlns:a16="http://schemas.microsoft.com/office/drawing/2014/main" id="{3E443FD7-A66B-4AA0-872D-B088B9BC5F1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2400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Freeform: Shape 26">
            <a:extLst>
              <a:ext uri="{FF2B5EF4-FFF2-40B4-BE49-F238E27FC236}">
                <a16:creationId xmlns:a16="http://schemas.microsoft.com/office/drawing/2014/main" id="{C04BE0EF-3561-49B4-9A29-F283168A91C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56780" y="851521"/>
            <a:ext cx="4638605" cy="5154967"/>
          </a:xfrm>
          <a:custGeom>
            <a:avLst/>
            <a:gdLst>
              <a:gd name="connsiteX0" fmla="*/ 363179 w 6184806"/>
              <a:gd name="connsiteY0" fmla="*/ 3125191 h 5154967"/>
              <a:gd name="connsiteX1" fmla="*/ 898270 w 6184806"/>
              <a:gd name="connsiteY1" fmla="*/ 3125191 h 5154967"/>
              <a:gd name="connsiteX2" fmla="*/ 980326 w 6184806"/>
              <a:gd name="connsiteY2" fmla="*/ 3173551 h 5154967"/>
              <a:gd name="connsiteX3" fmla="*/ 1248448 w 6184806"/>
              <a:gd name="connsiteY3" fmla="*/ 3635277 h 5154967"/>
              <a:gd name="connsiteX4" fmla="*/ 1248448 w 6184806"/>
              <a:gd name="connsiteY4" fmla="*/ 3729695 h 5154967"/>
              <a:gd name="connsiteX5" fmla="*/ 980326 w 6184806"/>
              <a:gd name="connsiteY5" fmla="*/ 4191421 h 5154967"/>
              <a:gd name="connsiteX6" fmla="*/ 898270 w 6184806"/>
              <a:gd name="connsiteY6" fmla="*/ 4239781 h 5154967"/>
              <a:gd name="connsiteX7" fmla="*/ 363179 w 6184806"/>
              <a:gd name="connsiteY7" fmla="*/ 4239781 h 5154967"/>
              <a:gd name="connsiteX8" fmla="*/ 279969 w 6184806"/>
              <a:gd name="connsiteY8" fmla="*/ 4191421 h 5154967"/>
              <a:gd name="connsiteX9" fmla="*/ 13002 w 6184806"/>
              <a:gd name="connsiteY9" fmla="*/ 3729695 h 5154967"/>
              <a:gd name="connsiteX10" fmla="*/ 13002 w 6184806"/>
              <a:gd name="connsiteY10" fmla="*/ 3635277 h 5154967"/>
              <a:gd name="connsiteX11" fmla="*/ 279969 w 6184806"/>
              <a:gd name="connsiteY11" fmla="*/ 3173551 h 5154967"/>
              <a:gd name="connsiteX12" fmla="*/ 363179 w 6184806"/>
              <a:gd name="connsiteY12" fmla="*/ 3125191 h 5154967"/>
              <a:gd name="connsiteX13" fmla="*/ 2489721 w 6184806"/>
              <a:gd name="connsiteY13" fmla="*/ 570035 h 5154967"/>
              <a:gd name="connsiteX14" fmla="*/ 2764862 w 6184806"/>
              <a:gd name="connsiteY14" fmla="*/ 570035 h 5154967"/>
              <a:gd name="connsiteX15" fmla="*/ 2796959 w 6184806"/>
              <a:gd name="connsiteY15" fmla="*/ 570035 h 5154967"/>
              <a:gd name="connsiteX16" fmla="*/ 2827587 w 6184806"/>
              <a:gd name="connsiteY16" fmla="*/ 622777 h 5154967"/>
              <a:gd name="connsiteX17" fmla="*/ 2977604 w 6184806"/>
              <a:gd name="connsiteY17" fmla="*/ 881117 h 5154967"/>
              <a:gd name="connsiteX18" fmla="*/ 2977604 w 6184806"/>
              <a:gd name="connsiteY18" fmla="*/ 1025720 h 5154967"/>
              <a:gd name="connsiteX19" fmla="*/ 2566968 w 6184806"/>
              <a:gd name="connsiteY19" fmla="*/ 1732863 h 5154967"/>
              <a:gd name="connsiteX20" fmla="*/ 2441299 w 6184806"/>
              <a:gd name="connsiteY20" fmla="*/ 1806927 h 5154967"/>
              <a:gd name="connsiteX21" fmla="*/ 1621798 w 6184806"/>
              <a:gd name="connsiteY21" fmla="*/ 1806927 h 5154967"/>
              <a:gd name="connsiteX22" fmla="*/ 1583218 w 6184806"/>
              <a:gd name="connsiteY22" fmla="*/ 1801802 h 5154967"/>
              <a:gd name="connsiteX23" fmla="*/ 1556683 w 6184806"/>
              <a:gd name="connsiteY23" fmla="*/ 1790677 h 5154967"/>
              <a:gd name="connsiteX24" fmla="*/ 1572899 w 6184806"/>
              <a:gd name="connsiteY24" fmla="*/ 1762630 h 5154967"/>
              <a:gd name="connsiteX25" fmla="*/ 2147429 w 6184806"/>
              <a:gd name="connsiteY25" fmla="*/ 768968 h 5154967"/>
              <a:gd name="connsiteX26" fmla="*/ 2489721 w 6184806"/>
              <a:gd name="connsiteY26" fmla="*/ 570035 h 5154967"/>
              <a:gd name="connsiteX27" fmla="*/ 1573268 w 6184806"/>
              <a:gd name="connsiteY27" fmla="*/ 0 h 5154967"/>
              <a:gd name="connsiteX28" fmla="*/ 2497662 w 6184806"/>
              <a:gd name="connsiteY28" fmla="*/ 0 h 5154967"/>
              <a:gd name="connsiteX29" fmla="*/ 2639415 w 6184806"/>
              <a:gd name="connsiteY29" fmla="*/ 83546 h 5154967"/>
              <a:gd name="connsiteX30" fmla="*/ 2887862 w 6184806"/>
              <a:gd name="connsiteY30" fmla="*/ 511387 h 5154967"/>
              <a:gd name="connsiteX31" fmla="*/ 2915928 w 6184806"/>
              <a:gd name="connsiteY31" fmla="*/ 559720 h 5154967"/>
              <a:gd name="connsiteX32" fmla="*/ 2893844 w 6184806"/>
              <a:gd name="connsiteY32" fmla="*/ 559720 h 5154967"/>
              <a:gd name="connsiteX33" fmla="*/ 2789466 w 6184806"/>
              <a:gd name="connsiteY33" fmla="*/ 559720 h 5154967"/>
              <a:gd name="connsiteX34" fmla="*/ 2744122 w 6184806"/>
              <a:gd name="connsiteY34" fmla="*/ 481634 h 5154967"/>
              <a:gd name="connsiteX35" fmla="*/ 2570885 w 6184806"/>
              <a:gd name="connsiteY35" fmla="*/ 183309 h 5154967"/>
              <a:gd name="connsiteX36" fmla="*/ 2445216 w 6184806"/>
              <a:gd name="connsiteY36" fmla="*/ 109243 h 5154967"/>
              <a:gd name="connsiteX37" fmla="*/ 1625714 w 6184806"/>
              <a:gd name="connsiteY37" fmla="*/ 109243 h 5154967"/>
              <a:gd name="connsiteX38" fmla="*/ 1498276 w 6184806"/>
              <a:gd name="connsiteY38" fmla="*/ 183309 h 5154967"/>
              <a:gd name="connsiteX39" fmla="*/ 1089410 w 6184806"/>
              <a:gd name="connsiteY39" fmla="*/ 890450 h 5154967"/>
              <a:gd name="connsiteX40" fmla="*/ 1089410 w 6184806"/>
              <a:gd name="connsiteY40" fmla="*/ 1035054 h 5154967"/>
              <a:gd name="connsiteX41" fmla="*/ 1498276 w 6184806"/>
              <a:gd name="connsiteY41" fmla="*/ 1742196 h 5154967"/>
              <a:gd name="connsiteX42" fmla="*/ 1552039 w 6184806"/>
              <a:gd name="connsiteY42" fmla="*/ 1796422 h 5154967"/>
              <a:gd name="connsiteX43" fmla="*/ 1558260 w 6184806"/>
              <a:gd name="connsiteY43" fmla="*/ 1799029 h 5154967"/>
              <a:gd name="connsiteX44" fmla="*/ 1524911 w 6184806"/>
              <a:gd name="connsiteY44" fmla="*/ 1856707 h 5154967"/>
              <a:gd name="connsiteX45" fmla="*/ 1500108 w 6184806"/>
              <a:gd name="connsiteY45" fmla="*/ 1899604 h 5154967"/>
              <a:gd name="connsiteX46" fmla="*/ 1525834 w 6184806"/>
              <a:gd name="connsiteY46" fmla="*/ 1910390 h 5154967"/>
              <a:gd name="connsiteX47" fmla="*/ 1569352 w 6184806"/>
              <a:gd name="connsiteY47" fmla="*/ 1916170 h 5154967"/>
              <a:gd name="connsiteX48" fmla="*/ 2493745 w 6184806"/>
              <a:gd name="connsiteY48" fmla="*/ 1916170 h 5154967"/>
              <a:gd name="connsiteX49" fmla="*/ 2635498 w 6184806"/>
              <a:gd name="connsiteY49" fmla="*/ 1832627 h 5154967"/>
              <a:gd name="connsiteX50" fmla="*/ 3098693 w 6184806"/>
              <a:gd name="connsiteY50" fmla="*/ 1034974 h 5154967"/>
              <a:gd name="connsiteX51" fmla="*/ 3098693 w 6184806"/>
              <a:gd name="connsiteY51" fmla="*/ 871863 h 5154967"/>
              <a:gd name="connsiteX52" fmla="*/ 2945803 w 6184806"/>
              <a:gd name="connsiteY52" fmla="*/ 608576 h 5154967"/>
              <a:gd name="connsiteX53" fmla="*/ 2923422 w 6184806"/>
              <a:gd name="connsiteY53" fmla="*/ 570035 h 5154967"/>
              <a:gd name="connsiteX54" fmla="*/ 3027104 w 6184806"/>
              <a:gd name="connsiteY54" fmla="*/ 570035 h 5154967"/>
              <a:gd name="connsiteX55" fmla="*/ 4690846 w 6184806"/>
              <a:gd name="connsiteY55" fmla="*/ 570035 h 5154967"/>
              <a:gd name="connsiteX56" fmla="*/ 5028384 w 6184806"/>
              <a:gd name="connsiteY56" fmla="*/ 768968 h 5154967"/>
              <a:gd name="connsiteX57" fmla="*/ 6131323 w 6184806"/>
              <a:gd name="connsiteY57" fmla="*/ 2668304 h 5154967"/>
              <a:gd name="connsiteX58" fmla="*/ 6131323 w 6184806"/>
              <a:gd name="connsiteY58" fmla="*/ 3056698 h 5154967"/>
              <a:gd name="connsiteX59" fmla="*/ 5028384 w 6184806"/>
              <a:gd name="connsiteY59" fmla="*/ 4956035 h 5154967"/>
              <a:gd name="connsiteX60" fmla="*/ 4690846 w 6184806"/>
              <a:gd name="connsiteY60" fmla="*/ 5154967 h 5154967"/>
              <a:gd name="connsiteX61" fmla="*/ 2489721 w 6184806"/>
              <a:gd name="connsiteY61" fmla="*/ 5154967 h 5154967"/>
              <a:gd name="connsiteX62" fmla="*/ 2147429 w 6184806"/>
              <a:gd name="connsiteY62" fmla="*/ 4956035 h 5154967"/>
              <a:gd name="connsiteX63" fmla="*/ 1049243 w 6184806"/>
              <a:gd name="connsiteY63" fmla="*/ 3056698 h 5154967"/>
              <a:gd name="connsiteX64" fmla="*/ 1049243 w 6184806"/>
              <a:gd name="connsiteY64" fmla="*/ 2668304 h 5154967"/>
              <a:gd name="connsiteX65" fmla="*/ 1457007 w 6184806"/>
              <a:gd name="connsiteY65" fmla="*/ 1963067 h 5154967"/>
              <a:gd name="connsiteX66" fmla="*/ 1491373 w 6184806"/>
              <a:gd name="connsiteY66" fmla="*/ 1903634 h 5154967"/>
              <a:gd name="connsiteX67" fmla="*/ 1490164 w 6184806"/>
              <a:gd name="connsiteY67" fmla="*/ 1903127 h 5154967"/>
              <a:gd name="connsiteX68" fmla="*/ 1429519 w 6184806"/>
              <a:gd name="connsiteY68" fmla="*/ 1841960 h 5154967"/>
              <a:gd name="connsiteX69" fmla="*/ 968320 w 6184806"/>
              <a:gd name="connsiteY69" fmla="*/ 1044307 h 5154967"/>
              <a:gd name="connsiteX70" fmla="*/ 968320 w 6184806"/>
              <a:gd name="connsiteY70" fmla="*/ 881196 h 5154967"/>
              <a:gd name="connsiteX71" fmla="*/ 1429519 w 6184806"/>
              <a:gd name="connsiteY71" fmla="*/ 83546 h 5154967"/>
              <a:gd name="connsiteX72" fmla="*/ 1573268 w 6184806"/>
              <a:gd name="connsiteY72" fmla="*/ 0 h 51549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</a:cxnLst>
            <a:rect l="l" t="t" r="r" b="b"/>
            <a:pathLst>
              <a:path w="6184806" h="5154967">
                <a:moveTo>
                  <a:pt x="363179" y="3125191"/>
                </a:moveTo>
                <a:cubicBezTo>
                  <a:pt x="363179" y="3125191"/>
                  <a:pt x="363179" y="3125191"/>
                  <a:pt x="898270" y="3125191"/>
                </a:cubicBezTo>
                <a:cubicBezTo>
                  <a:pt x="931786" y="3125191"/>
                  <a:pt x="964145" y="3143614"/>
                  <a:pt x="980326" y="3173551"/>
                </a:cubicBezTo>
                <a:cubicBezTo>
                  <a:pt x="980326" y="3173551"/>
                  <a:pt x="980326" y="3173551"/>
                  <a:pt x="1248448" y="3635277"/>
                </a:cubicBezTo>
                <a:cubicBezTo>
                  <a:pt x="1265784" y="3664063"/>
                  <a:pt x="1265784" y="3700909"/>
                  <a:pt x="1248448" y="3729695"/>
                </a:cubicBezTo>
                <a:cubicBezTo>
                  <a:pt x="1248448" y="3729695"/>
                  <a:pt x="1248448" y="3729695"/>
                  <a:pt x="980326" y="4191421"/>
                </a:cubicBezTo>
                <a:cubicBezTo>
                  <a:pt x="964145" y="4221358"/>
                  <a:pt x="931786" y="4239781"/>
                  <a:pt x="898270" y="4239781"/>
                </a:cubicBezTo>
                <a:cubicBezTo>
                  <a:pt x="898270" y="4239781"/>
                  <a:pt x="898270" y="4239781"/>
                  <a:pt x="363179" y="4239781"/>
                </a:cubicBezTo>
                <a:cubicBezTo>
                  <a:pt x="328508" y="4239781"/>
                  <a:pt x="297305" y="4221358"/>
                  <a:pt x="279969" y="4191421"/>
                </a:cubicBezTo>
                <a:cubicBezTo>
                  <a:pt x="279969" y="4191421"/>
                  <a:pt x="279969" y="4191421"/>
                  <a:pt x="13002" y="3729695"/>
                </a:cubicBezTo>
                <a:cubicBezTo>
                  <a:pt x="-4334" y="3700909"/>
                  <a:pt x="-4334" y="3664063"/>
                  <a:pt x="13002" y="3635277"/>
                </a:cubicBezTo>
                <a:cubicBezTo>
                  <a:pt x="13002" y="3635277"/>
                  <a:pt x="13002" y="3635277"/>
                  <a:pt x="279969" y="3173551"/>
                </a:cubicBezTo>
                <a:cubicBezTo>
                  <a:pt x="297305" y="3143614"/>
                  <a:pt x="328508" y="3125191"/>
                  <a:pt x="363179" y="3125191"/>
                </a:cubicBezTo>
                <a:close/>
                <a:moveTo>
                  <a:pt x="2489721" y="570035"/>
                </a:moveTo>
                <a:cubicBezTo>
                  <a:pt x="2489721" y="570035"/>
                  <a:pt x="2489721" y="570035"/>
                  <a:pt x="2764862" y="570035"/>
                </a:cubicBezTo>
                <a:lnTo>
                  <a:pt x="2796959" y="570035"/>
                </a:lnTo>
                <a:lnTo>
                  <a:pt x="2827587" y="622777"/>
                </a:lnTo>
                <a:cubicBezTo>
                  <a:pt x="2870233" y="696217"/>
                  <a:pt x="2919858" y="781675"/>
                  <a:pt x="2977604" y="881117"/>
                </a:cubicBezTo>
                <a:cubicBezTo>
                  <a:pt x="3004153" y="925204"/>
                  <a:pt x="3004153" y="981634"/>
                  <a:pt x="2977604" y="1025720"/>
                </a:cubicBezTo>
                <a:cubicBezTo>
                  <a:pt x="2977604" y="1025720"/>
                  <a:pt x="2977604" y="1025720"/>
                  <a:pt x="2566968" y="1732863"/>
                </a:cubicBezTo>
                <a:cubicBezTo>
                  <a:pt x="2542188" y="1778712"/>
                  <a:pt x="2492629" y="1806927"/>
                  <a:pt x="2441299" y="1806927"/>
                </a:cubicBezTo>
                <a:cubicBezTo>
                  <a:pt x="2441299" y="1806927"/>
                  <a:pt x="2441299" y="1806927"/>
                  <a:pt x="1621798" y="1806927"/>
                </a:cubicBezTo>
                <a:cubicBezTo>
                  <a:pt x="1608523" y="1806927"/>
                  <a:pt x="1595580" y="1805163"/>
                  <a:pt x="1583218" y="1801802"/>
                </a:cubicBezTo>
                <a:lnTo>
                  <a:pt x="1556683" y="1790677"/>
                </a:lnTo>
                <a:lnTo>
                  <a:pt x="1572899" y="1762630"/>
                </a:lnTo>
                <a:cubicBezTo>
                  <a:pt x="1719523" y="1509042"/>
                  <a:pt x="1907201" y="1184448"/>
                  <a:pt x="2147429" y="768968"/>
                </a:cubicBezTo>
                <a:cubicBezTo>
                  <a:pt x="2218739" y="645819"/>
                  <a:pt x="2347099" y="570035"/>
                  <a:pt x="2489721" y="570035"/>
                </a:cubicBezTo>
                <a:close/>
                <a:moveTo>
                  <a:pt x="1573268" y="0"/>
                </a:moveTo>
                <a:cubicBezTo>
                  <a:pt x="1573268" y="0"/>
                  <a:pt x="1573268" y="0"/>
                  <a:pt x="2497662" y="0"/>
                </a:cubicBezTo>
                <a:cubicBezTo>
                  <a:pt x="2555561" y="0"/>
                  <a:pt x="2611463" y="31828"/>
                  <a:pt x="2639415" y="83546"/>
                </a:cubicBezTo>
                <a:cubicBezTo>
                  <a:pt x="2639415" y="83546"/>
                  <a:pt x="2639415" y="83546"/>
                  <a:pt x="2887862" y="511387"/>
                </a:cubicBezTo>
                <a:lnTo>
                  <a:pt x="2915928" y="559720"/>
                </a:lnTo>
                <a:lnTo>
                  <a:pt x="2893844" y="559720"/>
                </a:lnTo>
                <a:lnTo>
                  <a:pt x="2789466" y="559720"/>
                </a:lnTo>
                <a:lnTo>
                  <a:pt x="2744122" y="481634"/>
                </a:lnTo>
                <a:cubicBezTo>
                  <a:pt x="2570885" y="183309"/>
                  <a:pt x="2570885" y="183309"/>
                  <a:pt x="2570885" y="183309"/>
                </a:cubicBezTo>
                <a:cubicBezTo>
                  <a:pt x="2546104" y="137459"/>
                  <a:pt x="2496545" y="109243"/>
                  <a:pt x="2445216" y="109243"/>
                </a:cubicBezTo>
                <a:cubicBezTo>
                  <a:pt x="1625714" y="109243"/>
                  <a:pt x="1625714" y="109243"/>
                  <a:pt x="1625714" y="109243"/>
                </a:cubicBezTo>
                <a:cubicBezTo>
                  <a:pt x="1572615" y="109243"/>
                  <a:pt x="1524825" y="137459"/>
                  <a:pt x="1498276" y="183309"/>
                </a:cubicBezTo>
                <a:cubicBezTo>
                  <a:pt x="1089410" y="890450"/>
                  <a:pt x="1089410" y="890450"/>
                  <a:pt x="1089410" y="890450"/>
                </a:cubicBezTo>
                <a:cubicBezTo>
                  <a:pt x="1062860" y="934537"/>
                  <a:pt x="1062860" y="990967"/>
                  <a:pt x="1089410" y="1035054"/>
                </a:cubicBezTo>
                <a:cubicBezTo>
                  <a:pt x="1498276" y="1742196"/>
                  <a:pt x="1498276" y="1742196"/>
                  <a:pt x="1498276" y="1742196"/>
                </a:cubicBezTo>
                <a:cubicBezTo>
                  <a:pt x="1511551" y="1765121"/>
                  <a:pt x="1530135" y="1783637"/>
                  <a:pt x="1552039" y="1796422"/>
                </a:cubicBezTo>
                <a:lnTo>
                  <a:pt x="1558260" y="1799029"/>
                </a:lnTo>
                <a:lnTo>
                  <a:pt x="1524911" y="1856707"/>
                </a:lnTo>
                <a:lnTo>
                  <a:pt x="1500108" y="1899604"/>
                </a:lnTo>
                <a:lnTo>
                  <a:pt x="1525834" y="1910390"/>
                </a:lnTo>
                <a:cubicBezTo>
                  <a:pt x="1539779" y="1914181"/>
                  <a:pt x="1554378" y="1916170"/>
                  <a:pt x="1569352" y="1916170"/>
                </a:cubicBezTo>
                <a:cubicBezTo>
                  <a:pt x="2493745" y="1916170"/>
                  <a:pt x="2493745" y="1916170"/>
                  <a:pt x="2493745" y="1916170"/>
                </a:cubicBezTo>
                <a:cubicBezTo>
                  <a:pt x="2551645" y="1916170"/>
                  <a:pt x="2607546" y="1884345"/>
                  <a:pt x="2635498" y="1832627"/>
                </a:cubicBezTo>
                <a:cubicBezTo>
                  <a:pt x="3098693" y="1034974"/>
                  <a:pt x="3098693" y="1034974"/>
                  <a:pt x="3098693" y="1034974"/>
                </a:cubicBezTo>
                <a:cubicBezTo>
                  <a:pt x="3128641" y="985246"/>
                  <a:pt x="3128641" y="921593"/>
                  <a:pt x="3098693" y="871863"/>
                </a:cubicBezTo>
                <a:cubicBezTo>
                  <a:pt x="3040794" y="772157"/>
                  <a:pt x="2990132" y="684914"/>
                  <a:pt x="2945803" y="608576"/>
                </a:cubicBezTo>
                <a:lnTo>
                  <a:pt x="2923422" y="570035"/>
                </a:lnTo>
                <a:lnTo>
                  <a:pt x="3027104" y="570035"/>
                </a:lnTo>
                <a:cubicBezTo>
                  <a:pt x="3349535" y="570035"/>
                  <a:pt x="3865424" y="570035"/>
                  <a:pt x="4690846" y="570035"/>
                </a:cubicBezTo>
                <a:cubicBezTo>
                  <a:pt x="4828714" y="570035"/>
                  <a:pt x="4961827" y="645819"/>
                  <a:pt x="5028384" y="768968"/>
                </a:cubicBezTo>
                <a:cubicBezTo>
                  <a:pt x="5028384" y="768968"/>
                  <a:pt x="5028384" y="768968"/>
                  <a:pt x="6131323" y="2668304"/>
                </a:cubicBezTo>
                <a:cubicBezTo>
                  <a:pt x="6202634" y="2786717"/>
                  <a:pt x="6202634" y="2938285"/>
                  <a:pt x="6131323" y="3056698"/>
                </a:cubicBezTo>
                <a:cubicBezTo>
                  <a:pt x="6131323" y="3056698"/>
                  <a:pt x="6131323" y="3056698"/>
                  <a:pt x="5028384" y="4956035"/>
                </a:cubicBezTo>
                <a:cubicBezTo>
                  <a:pt x="4961827" y="5079184"/>
                  <a:pt x="4828714" y="5154967"/>
                  <a:pt x="4690846" y="5154967"/>
                </a:cubicBezTo>
                <a:cubicBezTo>
                  <a:pt x="4690846" y="5154967"/>
                  <a:pt x="4690846" y="5154967"/>
                  <a:pt x="2489721" y="5154967"/>
                </a:cubicBezTo>
                <a:cubicBezTo>
                  <a:pt x="2347099" y="5154967"/>
                  <a:pt x="2218739" y="5079184"/>
                  <a:pt x="2147429" y="4956035"/>
                </a:cubicBezTo>
                <a:cubicBezTo>
                  <a:pt x="2147429" y="4956035"/>
                  <a:pt x="2147429" y="4956035"/>
                  <a:pt x="1049243" y="3056698"/>
                </a:cubicBezTo>
                <a:cubicBezTo>
                  <a:pt x="977932" y="2938285"/>
                  <a:pt x="977932" y="2786717"/>
                  <a:pt x="1049243" y="2668304"/>
                </a:cubicBezTo>
                <a:cubicBezTo>
                  <a:pt x="1049243" y="2668304"/>
                  <a:pt x="1049243" y="2668304"/>
                  <a:pt x="1457007" y="1963067"/>
                </a:cubicBezTo>
                <a:lnTo>
                  <a:pt x="1491373" y="1903634"/>
                </a:lnTo>
                <a:lnTo>
                  <a:pt x="1490164" y="1903127"/>
                </a:lnTo>
                <a:cubicBezTo>
                  <a:pt x="1465456" y="1888705"/>
                  <a:pt x="1444493" y="1867820"/>
                  <a:pt x="1429519" y="1841960"/>
                </a:cubicBezTo>
                <a:cubicBezTo>
                  <a:pt x="1429519" y="1841960"/>
                  <a:pt x="1429519" y="1841960"/>
                  <a:pt x="968320" y="1044307"/>
                </a:cubicBezTo>
                <a:cubicBezTo>
                  <a:pt x="938371" y="994579"/>
                  <a:pt x="938371" y="930926"/>
                  <a:pt x="968320" y="881196"/>
                </a:cubicBezTo>
                <a:cubicBezTo>
                  <a:pt x="968320" y="881196"/>
                  <a:pt x="968320" y="881196"/>
                  <a:pt x="1429519" y="83546"/>
                </a:cubicBezTo>
                <a:cubicBezTo>
                  <a:pt x="1459466" y="31828"/>
                  <a:pt x="1513373" y="0"/>
                  <a:pt x="1573268" y="0"/>
                </a:cubicBezTo>
                <a:close/>
              </a:path>
            </a:pathLst>
          </a:custGeom>
          <a:solidFill>
            <a:schemeClr val="tx1">
              <a:lumMod val="50000"/>
              <a:lumOff val="50000"/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120848B-B2B4-45BE-A961-AEC0B06CF41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59916"/>
          <a:stretch/>
        </p:blipFill>
        <p:spPr>
          <a:xfrm>
            <a:off x="6854891" y="1715881"/>
            <a:ext cx="3203509" cy="3426237"/>
          </a:xfrm>
          <a:prstGeom prst="rect">
            <a:avLst/>
          </a:prstGeom>
        </p:spPr>
      </p:pic>
      <p:sp>
        <p:nvSpPr>
          <p:cNvPr id="4" name="Subtitle 3"/>
          <p:cNvSpPr>
            <a:spLocks noGrp="1"/>
          </p:cNvSpPr>
          <p:nvPr>
            <p:ph type="subTitle" idx="1"/>
          </p:nvPr>
        </p:nvSpPr>
        <p:spPr>
          <a:xfrm>
            <a:off x="1245686" y="648614"/>
            <a:ext cx="8534400" cy="1752600"/>
          </a:xfrm>
        </p:spPr>
        <p:txBody>
          <a:bodyPr/>
          <a:lstStyle/>
          <a:p>
            <a:endParaRPr lang="en-US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TITLE PAGE</a:t>
            </a:r>
            <a:endParaRPr lang="en-IN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331286" y="-526757"/>
            <a:ext cx="10363200" cy="2076450"/>
          </a:xfrm>
        </p:spPr>
        <p:txBody>
          <a:bodyPr/>
          <a:lstStyle/>
          <a:p>
            <a:r>
              <a:rPr lang="en-US" sz="4000" b="1" dirty="0">
                <a:solidFill>
                  <a:schemeClr val="tx2"/>
                </a:solidFill>
                <a:latin typeface="Garamond" panose="02020404030301010803" pitchFamily="18" charset="0"/>
              </a:rPr>
              <a:t>SMART INDIA HACKATHON </a:t>
            </a:r>
            <a:r>
              <a:rPr lang="en-US" sz="4000" b="1" dirty="0" smtClean="0">
                <a:solidFill>
                  <a:schemeClr val="tx2"/>
                </a:solidFill>
                <a:latin typeface="Garamond" panose="02020404030301010803" pitchFamily="18" charset="0"/>
              </a:rPr>
              <a:t>2026</a:t>
            </a:r>
            <a:endParaRPr lang="en-IN" sz="4000" b="1" dirty="0">
              <a:solidFill>
                <a:schemeClr val="tx2"/>
              </a:solidFill>
              <a:latin typeface="Garamond" panose="02020404030301010803" pitchFamily="18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331286" y="2076450"/>
            <a:ext cx="5924550" cy="47030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800" b="1" dirty="0">
                <a:latin typeface="Arial" panose="020B0604020202020204" pitchFamily="34" charset="0"/>
                <a:cs typeface="Arial" panose="020B0604020202020204" pitchFamily="34" charset="0"/>
              </a:rPr>
              <a:t>Problem Statement ID – </a:t>
            </a:r>
            <a:r>
              <a:rPr lang="en-US" sz="1800" b="0" dirty="0">
                <a:latin typeface="Arial" panose="020B0604020202020204" pitchFamily="34" charset="0"/>
                <a:cs typeface="Arial" panose="020B0604020202020204" pitchFamily="34" charset="0"/>
              </a:rPr>
              <a:t>SIH26122</a:t>
            </a:r>
          </a:p>
          <a:p>
            <a:pPr marL="285750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800" b="1" dirty="0">
                <a:latin typeface="Arial" panose="020B0604020202020204" pitchFamily="34" charset="0"/>
                <a:cs typeface="Arial" panose="020B0604020202020204" pitchFamily="34" charset="0"/>
              </a:rPr>
              <a:t>Problem Statement Title – </a:t>
            </a:r>
            <a:r>
              <a:rPr lang="en-US" sz="1800" b="0" dirty="0">
                <a:latin typeface="Arial" panose="020B0604020202020204" pitchFamily="34" charset="0"/>
                <a:cs typeface="Arial" panose="020B0604020202020204" pitchFamily="34" charset="0"/>
              </a:rPr>
              <a:t>AI/ML-based Automatic Reconciliation and Update of EPC Project Schedule from Daily Site Activity / Progress Reports</a:t>
            </a:r>
          </a:p>
          <a:p>
            <a:pPr marL="285750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800" b="1" dirty="0">
                <a:latin typeface="Arial" panose="020B0604020202020204" pitchFamily="34" charset="0"/>
                <a:cs typeface="Arial" panose="020B0604020202020204" pitchFamily="34" charset="0"/>
              </a:rPr>
              <a:t>Theme – </a:t>
            </a:r>
            <a:r>
              <a:rPr lang="en-US" sz="1800" b="0" dirty="0">
                <a:latin typeface="Arial" panose="020B0604020202020204" pitchFamily="34" charset="0"/>
                <a:cs typeface="Arial" panose="020B0604020202020204" pitchFamily="34" charset="0"/>
              </a:rPr>
              <a:t>Smart Automation</a:t>
            </a:r>
          </a:p>
          <a:p>
            <a:pPr marL="285750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800" b="1" dirty="0">
                <a:latin typeface="Arial" panose="020B0604020202020204" pitchFamily="34" charset="0"/>
                <a:cs typeface="Arial" panose="020B0604020202020204" pitchFamily="34" charset="0"/>
              </a:rPr>
              <a:t>PS Category – </a:t>
            </a:r>
            <a:r>
              <a:rPr lang="en-US" sz="1800" b="0" dirty="0">
                <a:latin typeface="Arial" panose="020B0604020202020204" pitchFamily="34" charset="0"/>
                <a:cs typeface="Arial" panose="020B0604020202020204" pitchFamily="34" charset="0"/>
              </a:rPr>
              <a:t>Software</a:t>
            </a:r>
          </a:p>
          <a:p>
            <a:pPr marL="285750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800" b="1" dirty="0">
                <a:latin typeface="Arial" panose="020B0604020202020204" pitchFamily="34" charset="0"/>
                <a:cs typeface="Arial" panose="020B0604020202020204" pitchFamily="34" charset="0"/>
              </a:rPr>
              <a:t>Team Name (Registered on portal) – </a:t>
            </a:r>
            <a:r>
              <a:rPr lang="en-US" sz="1800" b="0" dirty="0">
                <a:latin typeface="Arial" panose="020B0604020202020204" pitchFamily="34" charset="0"/>
                <a:cs typeface="Arial" panose="020B0604020202020204" pitchFamily="34" charset="0"/>
              </a:rPr>
              <a:t>The Tachyons</a:t>
            </a:r>
          </a:p>
          <a:p>
            <a:pPr marL="285750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800" b="1" dirty="0">
                <a:latin typeface="Arial" panose="020B0604020202020204" pitchFamily="34" charset="0"/>
                <a:cs typeface="Arial" panose="020B0604020202020204" pitchFamily="34" charset="0"/>
              </a:rPr>
              <a:t>Solution Name – </a:t>
            </a:r>
            <a:r>
              <a:rPr lang="en-US" sz="1800" b="1" dirty="0">
                <a:latin typeface="Arial" panose="020B0604020202020204" pitchFamily="34" charset="0"/>
                <a:cs typeface="Arial" panose="020B0604020202020204" pitchFamily="34" charset="0"/>
              </a:rPr>
              <a:t>SYNAPSE — Synchronized NLP Activity-to-Plan Scheduling Engine</a:t>
            </a: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5361" name="Title 1"/>
          <p:cNvSpPr>
            <a:spLocks noGrp="1"/>
          </p:cNvSpPr>
          <p:nvPr>
            <p:ph type="title"/>
          </p:nvPr>
        </p:nvSpPr>
        <p:spPr>
          <a:xfrm>
            <a:off x="182998" y="0"/>
            <a:ext cx="10972800" cy="1143000"/>
          </a:xfrm>
        </p:spPr>
        <p:txBody>
          <a:bodyPr/>
          <a:lstStyle/>
          <a:p>
            <a:pPr eaLnBrk="1" hangingPunct="1" algn="ctr"/>
            <a:r>
              <a:rPr b="1" sz="4000">
                <a:solidFill>
                  <a:srgbClr val="1F4E79"/>
                </a:solidFill>
                <a:latin typeface="Arial"/>
              </a:rPr>
              <a:t>SYNAPSE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 smtClean="0">
                <a:solidFill>
                  <a:schemeClr val="bg1"/>
                </a:solidFill>
              </a:rPr>
              <a:pPr/>
              <a:t>2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0" name="Oval 9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 wrap="square"/>
          <a:lstStyle/>
          <a:p>
            <a:pPr algn="ctr"/>
            <a:r>
              <a:rPr lang="en-US" dirty="0" sz="1100" b="0">
                <a:latin typeface="Arial"/>
              </a:rPr>
              <a:t>The Tachyons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5362" name="Rounded Rectangle 15361"/>
          <p:cNvSpPr/>
          <p:nvPr/>
        </p:nvSpPr>
        <p:spPr>
          <a:xfrm>
            <a:off x="365760" y="1298448"/>
            <a:ext cx="11457432" cy="841248"/>
          </a:xfrm>
          <a:prstGeom prst="roundRect">
            <a:avLst/>
          </a:prstGeom>
          <a:solidFill>
            <a:srgbClr val="DEEA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54864" bIns="54864"/>
          <a:lstStyle/>
          <a:p>
            <a:pPr algn="ctr"/>
            <a:r>
              <a:rPr sz="1350" b="0">
                <a:solidFill>
                  <a:srgbClr val="262626"/>
                </a:solidFill>
                <a:latin typeface="Arial"/>
              </a:rPr>
              <a:t>For Oil India EPC planners who lose </a:t>
            </a:r>
            <a:r>
              <a:rPr sz="1350" b="1">
                <a:solidFill>
                  <a:srgbClr val="1F4E79"/>
                </a:solidFill>
                <a:latin typeface="Arial"/>
              </a:rPr>
              <a:t>3–5 hrs/day</a:t>
            </a:r>
            <a:r>
              <a:rPr sz="1350" b="0">
                <a:solidFill>
                  <a:srgbClr val="262626"/>
                </a:solidFill>
                <a:latin typeface="Arial"/>
              </a:rPr>
              <a:t> to manual reconciliation, SYNAPSE links free-text field reports to Primavera P6 activities in </a:t>
            </a:r>
            <a:r>
              <a:rPr sz="1350" b="1">
                <a:solidFill>
                  <a:srgbClr val="1F4E79"/>
                </a:solidFill>
                <a:latin typeface="Arial"/>
              </a:rPr>
              <a:t>near real-time</a:t>
            </a:r>
            <a:r>
              <a:rPr sz="1350" b="0">
                <a:solidFill>
                  <a:srgbClr val="262626"/>
                </a:solidFill>
                <a:latin typeface="Arial"/>
              </a:rPr>
              <a:t> — unlike P6's fully manual entry.</a:t>
            </a:r>
          </a:p>
        </p:txBody>
      </p:sp>
      <p:sp>
        <p:nvSpPr>
          <p:cNvPr id="15363" name="TextBox 15362"/>
          <p:cNvSpPr txBox="1"/>
          <p:nvPr/>
        </p:nvSpPr>
        <p:spPr>
          <a:xfrm>
            <a:off x="365760" y="2377440"/>
            <a:ext cx="5394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500">
                <a:solidFill>
                  <a:srgbClr val="1F4E79"/>
                </a:solidFill>
                <a:latin typeface="Arial"/>
              </a:rPr>
              <a:t>How SYNAPSE works</a:t>
            </a:r>
          </a:p>
        </p:txBody>
      </p:sp>
      <p:sp>
        <p:nvSpPr>
          <p:cNvPr id="15364" name="TextBox 15363"/>
          <p:cNvSpPr txBox="1"/>
          <p:nvPr/>
        </p:nvSpPr>
        <p:spPr>
          <a:xfrm>
            <a:off x="365760" y="2743200"/>
            <a:ext cx="539496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14312" indent="-214312">
              <a:lnSpc>
                <a:spcPct val="105000"/>
              </a:lnSpc>
              <a:spcAft>
                <a:spcPts val="900"/>
              </a:spcAft>
              <a:buFont typeface="Arial"/>
              <a:buChar char="•"/>
            </a:pPr>
          </a:p>
          <a:p>
            <a:r>
              <a:rPr sz="1200"/>
              <a:t>Reads DPRs (text/PDF/CSV), supervisor voice &amp; typed messages → extracts structured execution events</a:t>
            </a:r>
          </a:p>
          <a:p>
            <a:r>
              <a:rPr sz="1200"/>
              <a:t>7-layer matching: semantic (MiniLM) + asset ID + discipline + location + WBS + temporal + dependency</a:t>
            </a:r>
          </a:p>
          <a:p>
            <a:r>
              <a:rPr sz="1200"/>
              <a:t>Confidence router: ≥0.85 auto-link · 0.65–0.85 RL-ranked review · &lt;0.65 agentic clarification</a:t>
            </a:r>
          </a:p>
          <a:p>
            <a:r>
              <a:rPr sz="1200"/>
              <a:t>RL Priority Queue re-orders review items by real-world impact — learns from every decision</a:t>
            </a:r>
          </a:p>
          <a:p>
            <a:r>
              <a:rPr sz="1200"/>
              <a:t>Cascade Impact Prediction: BFS through successor graph shows downstream slip before reviewer decides</a:t>
            </a:r>
          </a:p>
          <a:p>
            <a:r>
              <a:rPr sz="1200"/>
              <a:t>Cross-source conflict detection catches contradictory reports; state regression flags data quality issues</a:t>
            </a:r>
          </a:p>
        </p:txBody>
      </p:sp>
      <p:graphicFrame>
        <p:nvGraphicFramePr>
          <p:cNvPr id="15365" name="Table 15364"/>
          <p:cNvGraphicFramePr>
            <a:graphicFrameLocks noGrp="1"/>
          </p:cNvGraphicFramePr>
          <p:nvPr/>
        </p:nvGraphicFramePr>
        <p:xfrm>
          <a:off x="6080760" y="2487168"/>
          <a:ext cx="5742431" cy="379320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286000"/>
                <a:gridCol w="1051560"/>
                <a:gridCol w="1234440"/>
                <a:gridCol w="1170432"/>
              </a:tblGrid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3B3B3B"/>
                          </a:solidFill>
                          <a:latin typeface="Arial"/>
                        </a:rPr>
                        <a:t>Capability</a:t>
                      </a:r>
                    </a:p>
                  </a:txBody>
                  <a:tcPr marL="45720" marR="45720" marT="18288" marB="18288" anchor="ctr">
                    <a:solidFill>
                      <a:srgbClr val="EFEF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3B3B3B"/>
                          </a:solidFill>
                          <a:latin typeface="Arial"/>
                        </a:rPr>
                        <a:t>P6</a:t>
                      </a:r>
                    </a:p>
                  </a:txBody>
                  <a:tcPr marL="45720" marR="45720" marT="18288" marB="18288" anchor="ctr">
                    <a:solidFill>
                      <a:srgbClr val="EFEF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3B3B3B"/>
                          </a:solidFill>
                          <a:latin typeface="Arial"/>
                        </a:rPr>
                        <a:t>MS Project</a:t>
                      </a:r>
                    </a:p>
                  </a:txBody>
                  <a:tcPr marL="45720" marR="45720" marT="18288" marB="18288" anchor="ctr">
                    <a:solidFill>
                      <a:srgbClr val="EFEF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SYNAPSE</a:t>
                      </a:r>
                    </a:p>
                  </a:txBody>
                  <a:tcPr marL="45720" marR="45720" marT="18288" marB="18288" anchor="ctr">
                    <a:solidFill>
                      <a:srgbClr val="4C7A34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62626"/>
                          </a:solidFill>
                          <a:latin typeface="Arial"/>
                        </a:rPr>
                        <a:t>Reads free-text DPRs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Arial"/>
                        </a:rPr>
                        <a:t>No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Arial"/>
                        </a:rPr>
                        <a:t>No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2E5D1F"/>
                          </a:solidFill>
                          <a:latin typeface="Arial"/>
                        </a:rPr>
                        <a:t>Yes</a:t>
                      </a:r>
                    </a:p>
                  </a:txBody>
                  <a:tcPr marL="45720" marR="45720" marT="18288" marB="18288" anchor="ctr">
                    <a:solidFill>
                      <a:srgbClr val="E2EFDA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62626"/>
                          </a:solidFill>
                          <a:latin typeface="Arial"/>
                        </a:rPr>
                        <a:t>Auto-links to schedule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Arial"/>
                        </a:rPr>
                        <a:t>No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Arial"/>
                        </a:rPr>
                        <a:t>No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2E5D1F"/>
                          </a:solidFill>
                          <a:latin typeface="Arial"/>
                        </a:rPr>
                        <a:t>Yes</a:t>
                      </a:r>
                    </a:p>
                  </a:txBody>
                  <a:tcPr marL="45720" marR="45720" marT="18288" marB="18288" anchor="ctr">
                    <a:solidFill>
                      <a:srgbClr val="E2EFDA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62626"/>
                          </a:solidFill>
                          <a:latin typeface="Arial"/>
                        </a:rPr>
                        <a:t>Handles ambiguity (Agentic)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Arial"/>
                        </a:rPr>
                        <a:t>No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Arial"/>
                        </a:rPr>
                        <a:t>No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2E5D1F"/>
                          </a:solidFill>
                          <a:latin typeface="Arial"/>
                        </a:rPr>
                        <a:t>Yes</a:t>
                      </a:r>
                    </a:p>
                  </a:txBody>
                  <a:tcPr marL="45720" marR="45720" marT="18288" marB="18288" anchor="ctr">
                    <a:solidFill>
                      <a:srgbClr val="E2EFDA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62626"/>
                          </a:solidFill>
                          <a:latin typeface="Arial"/>
                        </a:rPr>
                        <a:t>Learns from feedback (Active Learning)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Arial"/>
                        </a:rPr>
                        <a:t>No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Arial"/>
                        </a:rPr>
                        <a:t>No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2E5D1F"/>
                          </a:solidFill>
                          <a:latin typeface="Arial"/>
                        </a:rPr>
                        <a:t>Yes</a:t>
                      </a:r>
                    </a:p>
                  </a:txBody>
                  <a:tcPr marL="45720" marR="45720" marT="18288" marB="18288" anchor="ctr">
                    <a:solidFill>
                      <a:srgbClr val="E2EFDA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62626"/>
                          </a:solidFill>
                          <a:latin typeface="Arial"/>
                        </a:rPr>
                        <a:t>Delay-risk prediction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Arial"/>
                        </a:rPr>
                        <a:t>No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Arial"/>
                        </a:rPr>
                        <a:t>No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2E5D1F"/>
                          </a:solidFill>
                          <a:latin typeface="Arial"/>
                        </a:rPr>
                        <a:t>Yes</a:t>
                      </a:r>
                    </a:p>
                  </a:txBody>
                  <a:tcPr marL="45720" marR="45720" marT="18288" marB="18288" anchor="ctr">
                    <a:solidFill>
                      <a:srgbClr val="E2EFDA"/>
                    </a:solidFill>
                  </a:tcPr>
                </a:tc>
              </a:tr>
              <a:tr h="350000">
                <a:tc>
                  <a:txBody>
                    <a:bodyPr wrap="square"/>
                    <a:lstStyle/>
                    <a:p>
                      <a:r>
                        <a:rPr sz="1000" b="1"/>
                        <a:t>RL-prioritised review queue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F87171"/>
                          </a:solidFill>
                        </a:rPr>
                        <a:t>No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F87171"/>
                          </a:solidFill>
                        </a:rPr>
                        <a:t>No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34D399"/>
                          </a:solidFill>
                        </a:rPr>
                        <a:t>Yes</a:t>
                      </a:r>
                    </a:p>
                  </a:txBody>
                  <a:tcPr marL="45720" marR="45720" marT="18288" marB="18288" anchor="ctr">
                    <a:solidFill>
                      <a:srgbClr val="E2EFDA"/>
                    </a:solidFill>
                  </a:tcPr>
                </a:tc>
              </a:tr>
              <a:tr h="350000">
                <a:tc>
                  <a:txBody>
                    <a:bodyPr wrap="square"/>
                    <a:lstStyle/>
                    <a:p>
                      <a:r>
                        <a:rPr sz="1000" b="1"/>
                        <a:t>Cascade impact prediction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F87171"/>
                          </a:solidFill>
                        </a:rPr>
                        <a:t>No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F87171"/>
                          </a:solidFill>
                        </a:rPr>
                        <a:t>No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34D399"/>
                          </a:solidFill>
                        </a:rPr>
                        <a:t>Yes</a:t>
                      </a:r>
                    </a:p>
                  </a:txBody>
                  <a:tcPr marL="45720" marR="45720" marT="18288" marB="18288" anchor="ctr">
                    <a:solidFill>
                      <a:srgbClr val="E2EFDA"/>
                    </a:solidFill>
                  </a:tcPr>
                </a:tc>
              </a:tr>
              <a:tr h="350000">
                <a:tc>
                  <a:txBody>
                    <a:bodyPr wrap="square"/>
                    <a:lstStyle/>
                    <a:p>
                      <a:r>
                        <a:rPr sz="1000" b="1"/>
                        <a:t>Cross-source conflict detection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F87171"/>
                          </a:solidFill>
                        </a:rPr>
                        <a:t>No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F87171"/>
                          </a:solidFill>
                        </a:rPr>
                        <a:t>No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34D399"/>
                          </a:solidFill>
                        </a:rPr>
                        <a:t>Yes</a:t>
                      </a:r>
                    </a:p>
                  </a:txBody>
                  <a:tcPr marL="45720" marR="45720" marT="18288" marB="18288" anchor="ctr">
                    <a:solidFill>
                      <a:srgbClr val="E2EFDA"/>
                    </a:solidFill>
                  </a:tcPr>
                </a:tc>
              </a:tr>
            </a:tbl>
          </a:graphicData>
        </a:graphic>
      </p:graphicFrame>
      <p:sp>
        <p:nvSpPr>
          <p:cNvPr id="15366" name="TextBox 15365"/>
          <p:cNvSpPr txBox="1"/>
          <p:nvPr/>
        </p:nvSpPr>
        <p:spPr>
          <a:xfrm>
            <a:off x="365760" y="5742432"/>
            <a:ext cx="1145743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/>
              <a:t>What no other team has:  </a:t>
            </a:r>
            <a:r>
              <a:rPr sz="1250"/>
              <a:t>RL Priority Queue (contextual bandit learns from every reviewer decision) · Cascade Impact Prediction (BFS shows downstream project slip) · Active Learning (matching confidence recalibrates with feedback)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TECHNICAL APPROACH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>
                <a:solidFill>
                  <a:schemeClr val="bg1"/>
                </a:solidFill>
              </a:rPr>
              <a:pPr/>
              <a:t>3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1" name="Oval 10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 wrap="square"/>
          <a:lstStyle/>
          <a:p>
            <a:pPr algn="ctr"/>
            <a:r>
              <a:rPr lang="en-US" dirty="0" sz="1100" b="0">
                <a:latin typeface="Arial"/>
              </a:rPr>
              <a:t>The Tachyons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TextBox 17409"/>
          <p:cNvSpPr txBox="1"/>
          <p:nvPr/>
        </p:nvSpPr>
        <p:spPr>
          <a:xfrm>
            <a:off x="365760" y="1389888"/>
            <a:ext cx="1669694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850">
                <a:solidFill>
                  <a:srgbClr val="5A5A5A"/>
                </a:solidFill>
                <a:latin typeface="Arial"/>
              </a:rPr>
              <a:t>DATA</a:t>
            </a:r>
          </a:p>
        </p:txBody>
      </p:sp>
      <p:sp>
        <p:nvSpPr>
          <p:cNvPr id="17411" name="Rounded Rectangle 17410"/>
          <p:cNvSpPr/>
          <p:nvPr/>
        </p:nvSpPr>
        <p:spPr>
          <a:xfrm>
            <a:off x="365760" y="1691640"/>
            <a:ext cx="1669694" cy="1417320"/>
          </a:xfrm>
          <a:prstGeom prst="roundRect">
            <a:avLst/>
          </a:prstGeom>
          <a:solidFill>
            <a:srgbClr val="EDEF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bIns="36576"/>
          <a:lstStyle/>
          <a:p>
            <a:pPr algn="ctr">
              <a:spcAft>
                <a:spcPts val="300"/>
              </a:spcAft>
            </a:pPr>
            <a:r>
              <a:rPr sz="1050" b="1"/>
              <a:t>Field Data Sources</a:t>
            </a:r>
          </a:p>
          <a:p>
            <a:r>
              <a:rPr sz="850"/>
              <a:t>DPRs (free text / PDF)</a:t>
            </a:r>
          </a:p>
          <a:p>
            <a:r>
              <a:rPr sz="850"/>
              <a:t>Discipline CSVs / Excel</a:t>
            </a:r>
          </a:p>
          <a:p>
            <a:r>
              <a:rPr sz="850"/>
              <a:t>Supervisor voice &amp; text</a:t>
            </a:r>
          </a:p>
          <a:p>
            <a:r>
              <a:rPr sz="850"/>
              <a:t>P6 XER · P6 XML · MSP XML</a:t>
            </a:r>
          </a:p>
        </p:txBody>
      </p:sp>
      <p:sp>
        <p:nvSpPr>
          <p:cNvPr id="17412" name="TextBox 17411"/>
          <p:cNvSpPr txBox="1"/>
          <p:nvPr/>
        </p:nvSpPr>
        <p:spPr>
          <a:xfrm>
            <a:off x="2812694" y="1389888"/>
            <a:ext cx="1669694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850">
                <a:solidFill>
                  <a:srgbClr val="5A5A5A"/>
                </a:solidFill>
                <a:latin typeface="Arial"/>
              </a:rPr>
              <a:t>EXTRACT</a:t>
            </a:r>
          </a:p>
        </p:txBody>
      </p:sp>
      <p:sp>
        <p:nvSpPr>
          <p:cNvPr id="17413" name="Rounded Rectangle 17412"/>
          <p:cNvSpPr/>
          <p:nvPr/>
        </p:nvSpPr>
        <p:spPr>
          <a:xfrm>
            <a:off x="2812694" y="1691640"/>
            <a:ext cx="1669694" cy="1417320"/>
          </a:xfrm>
          <a:prstGeom prst="roundRect">
            <a:avLst/>
          </a:prstGeom>
          <a:solidFill>
            <a:srgbClr val="E1EC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bIns="36576"/>
          <a:lstStyle/>
          <a:p>
            <a:pPr algn="ctr">
              <a:spcAft>
                <a:spcPts val="300"/>
              </a:spcAft>
            </a:pPr>
            <a:r>
              <a:rPr sz="1050" b="1"/>
              <a:t>Hybrid Extraction</a:t>
            </a:r>
          </a:p>
          <a:p>
            <a:r>
              <a:rPr sz="850"/>
              <a:t>LLM (OpenRouter) + rule fallback</a:t>
            </a:r>
          </a:p>
          <a:p>
            <a:r>
              <a:rPr sz="850"/>
              <a:t>Confidence scoring per event</a:t>
            </a:r>
          </a:p>
          <a:p>
            <a:r>
              <a:rPr sz="850"/>
              <a:t>Deduplication (fingerprint)</a:t>
            </a:r>
          </a:p>
          <a:p>
            <a:r>
              <a:rPr sz="850"/>
              <a:t>pandas · pdfplumber · httpx</a:t>
            </a:r>
          </a:p>
          <a:p>
            <a:r>
              <a:rPr sz="850"/>
              <a:t>→ ExecutionEvent schema</a:t>
            </a:r>
          </a:p>
        </p:txBody>
      </p:sp>
      <p:sp>
        <p:nvSpPr>
          <p:cNvPr id="17414" name="TextBox 17413"/>
          <p:cNvSpPr txBox="1"/>
          <p:nvPr/>
        </p:nvSpPr>
        <p:spPr>
          <a:xfrm>
            <a:off x="5259628" y="1389888"/>
            <a:ext cx="1669694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/>
              <a:t>INTELLIGENCE</a:t>
            </a:r>
          </a:p>
        </p:txBody>
      </p:sp>
      <p:sp>
        <p:nvSpPr>
          <p:cNvPr id="17415" name="Rounded Rectangle 17414"/>
          <p:cNvSpPr/>
          <p:nvPr/>
        </p:nvSpPr>
        <p:spPr>
          <a:xfrm>
            <a:off x="5259628" y="1691640"/>
            <a:ext cx="1669694" cy="1417320"/>
          </a:xfrm>
          <a:prstGeom prst="roundRect">
            <a:avLst/>
          </a:prstGeom>
          <a:solidFill>
            <a:srgbClr val="D3E2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bIns="36576"/>
          <a:lstStyle/>
          <a:p>
            <a:pPr algn="ctr">
              <a:spcAft>
                <a:spcPts val="300"/>
              </a:spcAft>
            </a:pPr>
            <a:r>
              <a:rPr sz="1050" b="1"/>
              <a:t>AI Intelligence Layer</a:t>
            </a:r>
          </a:p>
          <a:p>
            <a:r>
              <a:rPr sz="850"/>
              <a:t>7-layer matching engine</a:t>
            </a:r>
          </a:p>
          <a:p>
            <a:r>
              <a:rPr sz="850"/>
              <a:t>RL Priority Queue (bandit)</a:t>
            </a:r>
          </a:p>
          <a:p>
            <a:r>
              <a:rPr sz="850"/>
              <a:t>Cascade Impact (BFS)</a:t>
            </a:r>
          </a:p>
          <a:p>
            <a:r>
              <a:rPr sz="850"/>
              <a:t>Conflict &amp; regression detect</a:t>
            </a:r>
          </a:p>
          <a:p>
            <a:r>
              <a:rPr sz="850"/>
              <a:t>Knowledge Base (hist. risk)</a:t>
            </a:r>
          </a:p>
          <a:p>
            <a:r>
              <a:rPr sz="850"/>
              <a:t>Active Learning feedback</a:t>
            </a:r>
          </a:p>
        </p:txBody>
      </p:sp>
      <p:sp>
        <p:nvSpPr>
          <p:cNvPr id="17416" name="TextBox 17415"/>
          <p:cNvSpPr txBox="1"/>
          <p:nvPr/>
        </p:nvSpPr>
        <p:spPr>
          <a:xfrm>
            <a:off x="7706563" y="1389888"/>
            <a:ext cx="1669694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850">
                <a:solidFill>
                  <a:srgbClr val="5A5A5A"/>
                </a:solidFill>
                <a:latin typeface="Arial"/>
              </a:rPr>
              <a:t>DECISION</a:t>
            </a:r>
          </a:p>
        </p:txBody>
      </p:sp>
      <p:sp>
        <p:nvSpPr>
          <p:cNvPr id="17417" name="Rounded Rectangle 17416"/>
          <p:cNvSpPr/>
          <p:nvPr/>
        </p:nvSpPr>
        <p:spPr>
          <a:xfrm>
            <a:off x="7706563" y="1691640"/>
            <a:ext cx="1669694" cy="1417320"/>
          </a:xfrm>
          <a:prstGeom prst="roundRect">
            <a:avLst/>
          </a:prstGeom>
          <a:solidFill>
            <a:srgbClr val="E4F0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bIns="36576"/>
          <a:lstStyle/>
          <a:p>
            <a:pPr algn="ctr">
              <a:spcAft>
                <a:spcPts val="300"/>
              </a:spcAft>
            </a:pPr>
            <a:r>
              <a:rPr sz="1050" b="1"/>
              <a:t>Confidence Router</a:t>
            </a:r>
          </a:p>
          <a:p>
            <a:r>
              <a:rPr sz="850"/>
              <a:t>≥0.85 → auto-link (no human)</a:t>
            </a:r>
          </a:p>
          <a:p>
            <a:r>
              <a:rPr sz="850"/>
              <a:t>0.65–0.85 → RL-ranked queue</a:t>
            </a:r>
          </a:p>
          <a:p>
            <a:r>
              <a:rPr sz="850"/>
              <a:t>&lt;0.65 → agentic clarification</a:t>
            </a:r>
          </a:p>
          <a:p>
            <a:r>
              <a:rPr sz="850"/>
              <a:t>Cascade impact per item</a:t>
            </a:r>
          </a:p>
          <a:p>
            <a:r>
              <a:rPr sz="850"/>
              <a:t>Conflict → trust resolution</a:t>
            </a:r>
          </a:p>
        </p:txBody>
      </p:sp>
      <p:sp>
        <p:nvSpPr>
          <p:cNvPr id="17418" name="TextBox 17417"/>
          <p:cNvSpPr txBox="1"/>
          <p:nvPr/>
        </p:nvSpPr>
        <p:spPr>
          <a:xfrm>
            <a:off x="10153497" y="1389888"/>
            <a:ext cx="1669694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/>
              <a:t>ACTION</a:t>
            </a:r>
          </a:p>
        </p:txBody>
      </p:sp>
      <p:sp>
        <p:nvSpPr>
          <p:cNvPr id="17419" name="Rounded Rectangle 17418"/>
          <p:cNvSpPr/>
          <p:nvPr/>
        </p:nvSpPr>
        <p:spPr>
          <a:xfrm>
            <a:off x="10153497" y="1691640"/>
            <a:ext cx="1669694" cy="1417320"/>
          </a:xfrm>
          <a:prstGeom prst="roundRect">
            <a:avLst/>
          </a:prstGeom>
          <a:solidFill>
            <a:srgbClr val="D3E8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bIns="36576"/>
          <a:lstStyle/>
          <a:p>
            <a:pPr algn="ctr">
              <a:spcAft>
                <a:spcPts val="300"/>
              </a:spcAft>
            </a:pPr>
            <a:r>
              <a:rPr sz="1050" b="1"/>
              <a:t>Schedule &amp; Alerts</a:t>
            </a:r>
          </a:p>
          <a:p>
            <a:r>
              <a:rPr sz="850"/>
              <a:t>P6 dates · Gantt variance</a:t>
            </a:r>
          </a:p>
          <a:p>
            <a:r>
              <a:rPr sz="850"/>
              <a:t>Cascade slip alerts</a:t>
            </a:r>
          </a:p>
          <a:p>
            <a:r>
              <a:rPr sz="850"/>
              <a:t>RL weight update on decision</a:t>
            </a:r>
          </a:p>
          <a:p>
            <a:r>
              <a:rPr sz="850"/>
              <a:t>Full provenance audit trail</a:t>
            </a:r>
          </a:p>
          <a:p>
            <a:r>
              <a:rPr sz="850"/>
              <a:t>Risk dashboard + KB query</a:t>
            </a:r>
          </a:p>
        </p:txBody>
      </p:sp>
      <p:sp>
        <p:nvSpPr>
          <p:cNvPr id="17420" name="Right Arrow 17419"/>
          <p:cNvSpPr/>
          <p:nvPr/>
        </p:nvSpPr>
        <p:spPr>
          <a:xfrm>
            <a:off x="2090318" y="2318004"/>
            <a:ext cx="667512" cy="164592"/>
          </a:xfrm>
          <a:prstGeom prst="rightArrow">
            <a:avLst/>
          </a:prstGeom>
          <a:solidFill>
            <a:srgbClr val="8497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1" name="TextBox 17420"/>
          <p:cNvSpPr txBox="1"/>
          <p:nvPr/>
        </p:nvSpPr>
        <p:spPr>
          <a:xfrm>
            <a:off x="1921154" y="2016252"/>
            <a:ext cx="100584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i="1">
                <a:solidFill>
                  <a:srgbClr val="5A5A5A"/>
                </a:solidFill>
                <a:latin typeface="Arial"/>
              </a:rPr>
              <a:t>raw data</a:t>
            </a:r>
          </a:p>
        </p:txBody>
      </p:sp>
      <p:sp>
        <p:nvSpPr>
          <p:cNvPr id="17422" name="Right Arrow 17421"/>
          <p:cNvSpPr/>
          <p:nvPr/>
        </p:nvSpPr>
        <p:spPr>
          <a:xfrm>
            <a:off x="4537252" y="2318004"/>
            <a:ext cx="667512" cy="164592"/>
          </a:xfrm>
          <a:prstGeom prst="rightArrow">
            <a:avLst/>
          </a:prstGeom>
          <a:solidFill>
            <a:srgbClr val="8497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3" name="TextBox 17422"/>
          <p:cNvSpPr txBox="1"/>
          <p:nvPr/>
        </p:nvSpPr>
        <p:spPr>
          <a:xfrm>
            <a:off x="4368088" y="2016252"/>
            <a:ext cx="100584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i="1">
                <a:solidFill>
                  <a:srgbClr val="5A5A5A"/>
                </a:solidFill>
                <a:latin typeface="Arial"/>
              </a:rPr>
              <a:t>events</a:t>
            </a:r>
          </a:p>
        </p:txBody>
      </p:sp>
      <p:sp>
        <p:nvSpPr>
          <p:cNvPr id="17424" name="Right Arrow 17423"/>
          <p:cNvSpPr/>
          <p:nvPr/>
        </p:nvSpPr>
        <p:spPr>
          <a:xfrm>
            <a:off x="6984187" y="2318004"/>
            <a:ext cx="667512" cy="164592"/>
          </a:xfrm>
          <a:prstGeom prst="rightArrow">
            <a:avLst/>
          </a:prstGeom>
          <a:solidFill>
            <a:srgbClr val="8497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5" name="TextBox 17424"/>
          <p:cNvSpPr txBox="1"/>
          <p:nvPr/>
        </p:nvSpPr>
        <p:spPr>
          <a:xfrm>
            <a:off x="6815023" y="2016252"/>
            <a:ext cx="100584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i="1">
                <a:solidFill>
                  <a:srgbClr val="5A5A5A"/>
                </a:solidFill>
                <a:latin typeface="Arial"/>
              </a:rPr>
              <a:t>match+score</a:t>
            </a:r>
          </a:p>
        </p:txBody>
      </p:sp>
      <p:sp>
        <p:nvSpPr>
          <p:cNvPr id="17426" name="Right Arrow 17425"/>
          <p:cNvSpPr/>
          <p:nvPr/>
        </p:nvSpPr>
        <p:spPr>
          <a:xfrm>
            <a:off x="9431121" y="2318004"/>
            <a:ext cx="667512" cy="164592"/>
          </a:xfrm>
          <a:prstGeom prst="rightArrow">
            <a:avLst/>
          </a:prstGeom>
          <a:solidFill>
            <a:srgbClr val="8497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7" name="TextBox 17426"/>
          <p:cNvSpPr txBox="1"/>
          <p:nvPr/>
        </p:nvSpPr>
        <p:spPr>
          <a:xfrm>
            <a:off x="9261957" y="2016252"/>
            <a:ext cx="100584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i="1">
                <a:solidFill>
                  <a:srgbClr val="5A5A5A"/>
                </a:solidFill>
                <a:latin typeface="Arial"/>
              </a:rPr>
              <a:t>linked</a:t>
            </a:r>
          </a:p>
        </p:txBody>
      </p:sp>
      <p:sp>
        <p:nvSpPr>
          <p:cNvPr id="17428" name="Left Arrow 17427"/>
          <p:cNvSpPr/>
          <p:nvPr/>
        </p:nvSpPr>
        <p:spPr>
          <a:xfrm>
            <a:off x="5844021" y="3236976"/>
            <a:ext cx="2947842" cy="182880"/>
          </a:xfrm>
          <a:prstGeom prst="leftArrow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9" name="TextBox 17428"/>
          <p:cNvSpPr txBox="1"/>
          <p:nvPr/>
        </p:nvSpPr>
        <p:spPr>
          <a:xfrm>
            <a:off x="1828800" y="3456432"/>
            <a:ext cx="85953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50" b="1"/>
              <a:t>Closed-loop learning — reviewer approve/reject recalibrates matching scores (Active Learning) + reorders the queue by real-world impact (RL Priority) + propagates delay to successor activities (Cascade Impact)</a:t>
            </a:r>
          </a:p>
        </p:txBody>
      </p:sp>
      <p:sp>
        <p:nvSpPr>
          <p:cNvPr id="17430" name="TextBox 17429"/>
          <p:cNvSpPr txBox="1"/>
          <p:nvPr/>
        </p:nvSpPr>
        <p:spPr>
          <a:xfrm>
            <a:off x="365760" y="3913632"/>
            <a:ext cx="114300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300">
                <a:solidFill>
                  <a:srgbClr val="1F4E79"/>
                </a:solidFill>
                <a:latin typeface="Arial"/>
              </a:rPr>
              <a:t>Technology stack — every choice has a reason</a:t>
            </a:r>
          </a:p>
        </p:txBody>
      </p:sp>
      <p:graphicFrame>
        <p:nvGraphicFramePr>
          <p:cNvPr id="17431" name="Table 17430"/>
          <p:cNvGraphicFramePr>
            <a:graphicFrameLocks noGrp="1"/>
          </p:cNvGraphicFramePr>
          <p:nvPr/>
        </p:nvGraphicFramePr>
        <p:xfrm>
          <a:off x="365760" y="4224528"/>
          <a:ext cx="11457432" cy="3025104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057400"/>
                <a:gridCol w="3794760"/>
                <a:gridCol w="5605272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3B3B3B"/>
                          </a:solidFill>
                          <a:latin typeface="Arial"/>
                        </a:rPr>
                        <a:t>Layer</a:t>
                      </a:r>
                    </a:p>
                  </a:txBody>
                  <a:tcPr marL="54864" marR="54864" marT="13716" marB="13716" anchor="ctr">
                    <a:solidFill>
                      <a:srgbClr val="EFEF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3B3B3B"/>
                          </a:solidFill>
                          <a:latin typeface="Arial"/>
                        </a:rPr>
                        <a:t>Technology</a:t>
                      </a:r>
                    </a:p>
                  </a:txBody>
                  <a:tcPr marL="54864" marR="54864" marT="13716" marB="13716" anchor="ctr">
                    <a:solidFill>
                      <a:srgbClr val="EFEF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3B3B3B"/>
                          </a:solidFill>
                          <a:latin typeface="Arial"/>
                        </a:rPr>
                        <a:t>Why this choice</a:t>
                      </a:r>
                    </a:p>
                  </a:txBody>
                  <a:tcPr marL="54864" marR="54864" marT="13716" marB="13716" anchor="ctr">
                    <a:solidFill>
                      <a:srgbClr val="EFEFEF"/>
                    </a:solidFill>
                  </a:tcPr>
                </a:tc>
              </a:tr>
              <a:tr h="283464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F4E79"/>
                          </a:solidFill>
                          <a:latin typeface="Arial"/>
                        </a:rPr>
                        <a:t>Event extraction</a:t>
                      </a:r>
                    </a:p>
                  </a:txBody>
                  <a:tcPr marL="54864" marR="54864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/>
                        <a:t>OpenRouter LLM (free) + regex/keyword fallback · pandas · pdfplumber · httpx</a:t>
                      </a:r>
                    </a:p>
                  </a:txBody>
                  <a:tcPr marL="54864" marR="54864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/>
                        <a:t>Hybrid: rule-based always runs (zero cost); LLM fills gaps on demand. Runs offline.</a:t>
                      </a:r>
                    </a:p>
                  </a:txBody>
                  <a:tcPr marL="54864" marR="54864" marT="13716" marB="13716" anchor="ctr"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 wrap="square"/>
                    <a:lstStyle/>
                    <a:p>
                      <a:r>
                        <a:rPr sz="900" b="1"/>
                        <a:t>7-layer matching</a:t>
                      </a:r>
                    </a:p>
                  </a:txBody>
                  <a:tcPr marL="54864" marR="54864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/>
                        <a:t>Sentence-Transformers (MiniLM-L6-v2) · TF-IDF fallback · cosine similarity</a:t>
                      </a:r>
                    </a:p>
                  </a:txBody>
                  <a:tcPr marL="54864" marR="54864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/>
                        <a:t>Semantic &gt; keyword for EPC jargon; runs on CPU; 7 signals stacked for robustness</a:t>
                      </a:r>
                    </a:p>
                  </a:txBody>
                  <a:tcPr marL="54864" marR="54864" marT="13716" marB="13716" anchor="ctr"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F4E79"/>
                          </a:solidFill>
                          <a:latin typeface="Arial"/>
                        </a:rPr>
                        <a:t>Backend / API</a:t>
                      </a:r>
                    </a:p>
                  </a:txBody>
                  <a:tcPr marL="54864" marR="54864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62626"/>
                          </a:solidFill>
                          <a:latin typeface="Arial"/>
                        </a:rPr>
                        <a:t>Python · FastAPI · Pydantic</a:t>
                      </a:r>
                    </a:p>
                  </a:txBody>
                  <a:tcPr marL="54864" marR="54864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62626"/>
                          </a:solidFill>
                          <a:latin typeface="Arial"/>
                        </a:rPr>
                        <a:t>Lightweight, typed REST layer over Python ML inference</a:t>
                      </a:r>
                    </a:p>
                  </a:txBody>
                  <a:tcPr marL="54864" marR="54864" marT="13716" marB="13716" anchor="ctr"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F4E79"/>
                          </a:solidFill>
                          <a:latin typeface="Arial"/>
                        </a:rPr>
                        <a:t>Storage</a:t>
                      </a:r>
                    </a:p>
                  </a:txBody>
                  <a:tcPr marL="54864" marR="54864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62626"/>
                          </a:solidFill>
                          <a:latin typeface="Arial"/>
                        </a:rPr>
                        <a:t>In-memory + CSV/JSON (demo) · PostgreSQL + pgvector (production)</a:t>
                      </a:r>
                    </a:p>
                  </a:txBody>
                  <a:tcPr marL="54864" marR="54864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62626"/>
                          </a:solidFill>
                          <a:latin typeface="Arial"/>
                        </a:rPr>
                        <a:t>Zero-setup demo; pgvector scales to full-project search</a:t>
                      </a:r>
                    </a:p>
                  </a:txBody>
                  <a:tcPr marL="54864" marR="54864" marT="13716" marB="13716" anchor="ctr"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F4E79"/>
                          </a:solidFill>
                          <a:latin typeface="Arial"/>
                        </a:rPr>
                        <a:t>Frontend</a:t>
                      </a:r>
                    </a:p>
                  </a:txBody>
                  <a:tcPr marL="54864" marR="54864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62626"/>
                          </a:solidFill>
                          <a:latin typeface="Arial"/>
                        </a:rPr>
                        <a:t>Vanilla JS (HTML/CSS), served by FastAPI</a:t>
                      </a:r>
                    </a:p>
                  </a:txBody>
                  <a:tcPr marL="54864" marR="54864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62626"/>
                          </a:solidFill>
                          <a:latin typeface="Arial"/>
                        </a:rPr>
                        <a:t>No framework; review queue, Gantt &amp; risk dashboard</a:t>
                      </a:r>
                    </a:p>
                  </a:txBody>
                  <a:tcPr marL="54864" marR="54864" marT="13716" marB="13716" anchor="ctr"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 wrap="square"/>
                    <a:lstStyle/>
                    <a:p>
                      <a:r>
                        <a:rPr sz="900" b="1"/>
                        <a:t>Active learning + RL</a:t>
                      </a:r>
                    </a:p>
                  </a:txBody>
                  <a:tcPr marL="54864" marR="54864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/>
                        <a:t>Feedback store (JSON) · contextual bandit · online gradient descent</a:t>
                      </a:r>
                    </a:p>
                  </a:txBody>
                  <a:tcPr marL="54864" marR="54864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/>
                        <a:t>Matching recalibrates from corrections; RL reorders queue by project impact</a:t>
                      </a:r>
                    </a:p>
                  </a:txBody>
                  <a:tcPr marL="54864" marR="54864" marT="13716" marB="13716" anchor="ctr">
                    <a:solidFill>
                      <a:srgbClr val="FFFFFF"/>
                    </a:solidFill>
                  </a:tcPr>
                </a:tc>
              </a:tr>
              <a:tr h="350000">
                <a:tc>
                  <a:txBody>
                    <a:bodyPr wrap="square"/>
                    <a:lstStyle/>
                    <a:p>
                      <a:r>
                        <a:rPr sz="900" b="1"/>
                        <a:t>Cascade impact</a:t>
                      </a:r>
                    </a:p>
                  </a:txBody>
                  <a:tcPr marL="54864" marR="54864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/>
                        <a:t>BFS successor traversal · predecessor/successor graph from P6</a:t>
                      </a:r>
                    </a:p>
                  </a:txBody>
                  <a:tcPr marL="54864" marR="54864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/>
                        <a:t>Shows downstream slip before reviewer decides — unique to SYNAPSE</a:t>
                      </a:r>
                    </a:p>
                  </a:txBody>
                  <a:tcPr marL="54864" marR="54864" marT="13716" marB="13716" anchor="ctr">
                    <a:solidFill>
                      <a:srgbClr val="FFFFFF"/>
                    </a:solidFill>
                  </a:tcPr>
                </a:tc>
              </a:tr>
              <a:tr h="350000">
                <a:tc>
                  <a:txBody>
                    <a:bodyPr wrap="square"/>
                    <a:lstStyle/>
                    <a:p>
                      <a:r>
                        <a:rPr sz="900" b="1"/>
                        <a:t>Knowledge base</a:t>
                      </a:r>
                    </a:p>
                  </a:txBody>
                  <a:tcPr marL="54864" marR="54864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/>
                        <a:t>Vector similarity search · historical CSV · NL query engine</a:t>
                      </a:r>
                    </a:p>
                  </a:txBody>
                  <a:tcPr marL="54864" marR="54864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/>
                        <a:t>Institutional memory: delay patterns, risk rates, past causes persist across projects</a:t>
                      </a:r>
                    </a:p>
                  </a:txBody>
                  <a:tcPr marL="54864" marR="54864" marT="13716" marB="13716" anchor="ctr">
                    <a:solidFill>
                      <a:srgbClr val="FFFFFF"/>
                    </a:solidFill>
                  </a:tcPr>
                </a:tc>
              </a:tr>
              <a:tr h="350000">
                <a:tc>
                  <a:txBody>
                    <a:bodyPr wrap="square"/>
                    <a:lstStyle/>
                    <a:p>
                      <a:r>
                        <a:rPr sz="900" b="1"/>
                        <a:t>Auth &amp; frontend</a:t>
                      </a:r>
                    </a:p>
                  </a:txBody>
                  <a:tcPr marL="54864" marR="54864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/>
                        <a:t>JWT HS256 (role-based) · vanilla JS · Web Speech API · FastAPI static</a:t>
                      </a:r>
                    </a:p>
                  </a:txBody>
                  <a:tcPr marL="54864" marR="54864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/>
                        <a:t>Zero-build UI, supervisor/admin roles, browser-native voice input, works fully offline</a:t>
                      </a:r>
                    </a:p>
                  </a:txBody>
                  <a:tcPr marL="54864" marR="54864" marT="13716" marB="1371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FEASIBILITY AND VIABILITY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 wrap="square"/>
          <a:lstStyle/>
          <a:p>
            <a:pPr algn="ctr"/>
            <a:r>
              <a:rPr lang="en-US" dirty="0" sz="1100" b="0">
                <a:latin typeface="Arial"/>
              </a:rPr>
              <a:t>The Tachyons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Rounded Rectangle 17409"/>
          <p:cNvSpPr/>
          <p:nvPr/>
        </p:nvSpPr>
        <p:spPr>
          <a:xfrm>
            <a:off x="365760" y="1280160"/>
            <a:ext cx="11457432" cy="566928"/>
          </a:xfrm>
          <a:prstGeom prst="roundRect">
            <a:avLst/>
          </a:prstGeom>
          <a:solidFill>
            <a:srgbClr val="DEEA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27432" bIns="27432"/>
          <a:lstStyle/>
          <a:p>
            <a:pPr algn="ctr"/>
            <a:r>
              <a:rPr sz="1200" b="1">
                <a:solidFill>
                  <a:srgbClr val="1F4E79"/>
                </a:solidFill>
                <a:latin typeface="Arial"/>
              </a:rPr>
              <a:t>Evidence, not adjectives:  </a:t>
            </a:r>
            <a:r>
              <a:rPr sz="1200" b="0">
                <a:solidFill>
                  <a:srgbClr val="262626"/>
                </a:solidFill>
                <a:latin typeface="Arial"/>
              </a:rPr>
              <a:t>the MiniLM matcher (~80 MB) runs on CPU; the demo reconciles a </a:t>
            </a:r>
            <a:r>
              <a:rPr sz="1200" b="1">
                <a:solidFill>
                  <a:srgbClr val="262626"/>
                </a:solidFill>
                <a:latin typeface="Arial"/>
              </a:rPr>
              <a:t>42-activity Primavera P6 schedule</a:t>
            </a:r>
            <a:r>
              <a:rPr sz="1200" b="0">
                <a:solidFill>
                  <a:srgbClr val="262626"/>
                </a:solidFill>
                <a:latin typeface="Arial"/>
              </a:rPr>
              <a:t> against </a:t>
            </a:r>
            <a:r>
              <a:rPr sz="1200" b="1">
                <a:solidFill>
                  <a:srgbClr val="262626"/>
                </a:solidFill>
                <a:latin typeface="Arial"/>
              </a:rPr>
              <a:t>3 days of daily reports.</a:t>
            </a:r>
          </a:p>
        </p:txBody>
      </p:sp>
      <p:sp>
        <p:nvSpPr>
          <p:cNvPr id="17411" name="Rounded Rectangle 17410"/>
          <p:cNvSpPr/>
          <p:nvPr/>
        </p:nvSpPr>
        <p:spPr>
          <a:xfrm>
            <a:off x="365760" y="2011680"/>
            <a:ext cx="5596128" cy="1627632"/>
          </a:xfrm>
          <a:prstGeom prst="roundRect">
            <a:avLst/>
          </a:prstGeom>
          <a:solidFill>
            <a:srgbClr val="E1EC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09728" tIns="82296" bIns="54864"/>
          <a:lstStyle/>
          <a:p>
            <a:pPr algn="ctr">
              <a:spcAft>
                <a:spcPts val="400"/>
              </a:spcAft>
            </a:pPr>
            <a:r>
              <a:rPr b="1" sz="1300">
                <a:solidFill>
                  <a:srgbClr val="1F4E79"/>
                </a:solidFill>
                <a:latin typeface="Arial"/>
              </a:rPr>
              <a:t>Feasibility — can we build it?</a:t>
            </a:r>
          </a:p>
          <a:p>
            <a:pPr marL="182880" indent="-182880">
              <a:lnSpc>
                <a:spcPct val="102000"/>
              </a:lnSpc>
              <a:spcAft>
                <a:spcPts val="300"/>
              </a:spcAft>
              <a:buFont typeface="Arial"/>
              <a:buChar char="•"/>
            </a:pPr>
            <a:r>
              <a:rPr sz="1000">
                <a:solidFill>
                  <a:srgbClr val="262626"/>
                </a:solidFill>
                <a:latin typeface="Arial"/>
              </a:rPr>
              <a:t>Matching runs on a standard laptop CPU — no GPU</a:t>
            </a:r>
          </a:p>
          <a:p>
            <a:pPr marL="182880" indent="-182880">
              <a:lnSpc>
                <a:spcPct val="102000"/>
              </a:lnSpc>
              <a:spcAft>
                <a:spcPts val="300"/>
              </a:spcAft>
              <a:buFont typeface="Arial"/>
              <a:buChar char="•"/>
            </a:pPr>
            <a:r>
              <a:rPr sz="1000">
                <a:solidFill>
                  <a:srgbClr val="262626"/>
                </a:solidFill>
                <a:latin typeface="Arial"/>
              </a:rPr>
              <a:t>Open-source stack — no proprietary scheduling-tool licences</a:t>
            </a:r>
          </a:p>
          <a:p>
            <a:pPr marL="182880" indent="-182880">
              <a:lnSpc>
                <a:spcPct val="102000"/>
              </a:lnSpc>
              <a:spcAft>
                <a:spcPts val="300"/>
              </a:spcAft>
              <a:buFont typeface="Arial"/>
              <a:buChar char="•"/>
            </a:pPr>
            <a:r>
              <a:rPr sz="1000">
                <a:solidFill>
                  <a:srgbClr val="262626"/>
                </a:solidFill>
                <a:latin typeface="Arial"/>
              </a:rPr>
              <a:t>Primavera P6 XER is a standard export — no proprietary API</a:t>
            </a:r>
          </a:p>
          <a:p>
            <a:pPr marL="182880" indent="-182880">
              <a:lnSpc>
                <a:spcPct val="102000"/>
              </a:lnSpc>
              <a:spcAft>
                <a:spcPts val="300"/>
              </a:spcAft>
              <a:buFont typeface="Arial"/>
              <a:buChar char="•"/>
            </a:pPr>
            <a:r>
              <a:rPr sz="1000">
                <a:solidFill>
                  <a:srgbClr val="262626"/>
                </a:solidFill>
                <a:latin typeface="Arial"/>
              </a:rPr>
              <a:t>Core MVP fits the 3-day internal-hackathon window</a:t>
            </a:r>
          </a:p>
          <a:p>
            <a:pPr marL="182880" indent="-182880">
              <a:lnSpc>
                <a:spcPct val="102000"/>
              </a:lnSpc>
              <a:spcAft>
                <a:spcPts val="300"/>
              </a:spcAft>
              <a:buFont typeface="Arial"/>
              <a:buChar char="•"/>
            </a:pPr>
            <a:r>
              <a:rPr sz="1000">
                <a:solidFill>
                  <a:srgbClr val="262626"/>
                </a:solidFill>
                <a:latin typeface="Arial"/>
              </a:rPr>
              <a:t>Synthetic Oil India dataset already prepared for the demo</a:t>
            </a:r>
          </a:p>
        </p:txBody>
      </p:sp>
      <p:sp>
        <p:nvSpPr>
          <p:cNvPr id="17412" name="Rounded Rectangle 17411"/>
          <p:cNvSpPr/>
          <p:nvPr/>
        </p:nvSpPr>
        <p:spPr>
          <a:xfrm>
            <a:off x="6227064" y="2011680"/>
            <a:ext cx="5596128" cy="1627632"/>
          </a:xfrm>
          <a:prstGeom prst="roundRect">
            <a:avLst/>
          </a:prstGeom>
          <a:solidFill>
            <a:srgbClr val="E4F0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09728" tIns="82296" bIns="54864"/>
          <a:lstStyle/>
          <a:p>
            <a:pPr algn="ctr">
              <a:spcAft>
                <a:spcPts val="400"/>
              </a:spcAft>
            </a:pPr>
            <a:r>
              <a:rPr b="1" sz="1300">
                <a:solidFill>
                  <a:srgbClr val="2E5D1F"/>
                </a:solidFill>
                <a:latin typeface="Arial"/>
              </a:rPr>
              <a:t>Viability — will it work in practice?</a:t>
            </a:r>
          </a:p>
          <a:p>
            <a:pPr marL="182880" indent="-182880">
              <a:lnSpc>
                <a:spcPct val="102000"/>
              </a:lnSpc>
              <a:spcAft>
                <a:spcPts val="300"/>
              </a:spcAft>
              <a:buFont typeface="Arial"/>
              <a:buChar char="•"/>
            </a:pPr>
            <a:r>
              <a:rPr sz="1000">
                <a:solidFill>
                  <a:srgbClr val="262626"/>
                </a:solidFill>
                <a:latin typeface="Arial"/>
              </a:rPr>
              <a:t>Zero workflow change — planners submit the DPRs they already write</a:t>
            </a:r>
          </a:p>
          <a:p>
            <a:pPr marL="182880" indent="-182880">
              <a:lnSpc>
                <a:spcPct val="102000"/>
              </a:lnSpc>
              <a:spcAft>
                <a:spcPts val="300"/>
              </a:spcAft>
              <a:buFont typeface="Arial"/>
              <a:buChar char="•"/>
            </a:pPr>
            <a:r>
              <a:rPr sz="1000">
                <a:solidFill>
                  <a:srgbClr val="262626"/>
                </a:solidFill>
                <a:latin typeface="Arial"/>
              </a:rPr>
              <a:t>Runs on servers Oil India already operates (on-prem capable)</a:t>
            </a:r>
          </a:p>
          <a:p>
            <a:pPr marL="182880" indent="-182880">
              <a:lnSpc>
                <a:spcPct val="102000"/>
              </a:lnSpc>
              <a:spcAft>
                <a:spcPts val="300"/>
              </a:spcAft>
              <a:buFont typeface="Arial"/>
              <a:buChar char="•"/>
            </a:pPr>
            <a:r>
              <a:rPr sz="1000">
                <a:solidFill>
                  <a:srgbClr val="262626"/>
                </a:solidFill>
                <a:latin typeface="Arial"/>
              </a:rPr>
              <a:t>Same engine scales from a 42-activity pilot to 5000+ activities</a:t>
            </a:r>
          </a:p>
          <a:p>
            <a:pPr marL="182880" indent="-182880">
              <a:lnSpc>
                <a:spcPct val="102000"/>
              </a:lnSpc>
              <a:spcAft>
                <a:spcPts val="300"/>
              </a:spcAft>
              <a:buFont typeface="Arial"/>
              <a:buChar char="•"/>
            </a:pPr>
            <a:r>
              <a:rPr sz="1000">
                <a:solidFill>
                  <a:srgbClr val="262626"/>
                </a:solidFill>
                <a:latin typeface="Arial"/>
              </a:rPr>
              <a:t>Human-in-the-loop: planner reviews only medium-confidence matches</a:t>
            </a:r>
          </a:p>
        </p:txBody>
      </p:sp>
      <p:sp>
        <p:nvSpPr>
          <p:cNvPr id="17413" name="TextBox 17412"/>
          <p:cNvSpPr txBox="1"/>
          <p:nvPr/>
        </p:nvSpPr>
        <p:spPr>
          <a:xfrm>
            <a:off x="365760" y="3822191"/>
            <a:ext cx="11430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300">
                <a:solidFill>
                  <a:srgbClr val="1F4E79"/>
                </a:solidFill>
                <a:latin typeface="Arial"/>
              </a:rPr>
              <a:t>Risks &amp; mitigations — we don’t hide them (honest teams score higher)</a:t>
            </a:r>
          </a:p>
        </p:txBody>
      </p:sp>
      <p:graphicFrame>
        <p:nvGraphicFramePr>
          <p:cNvPr id="17414" name="Table 17413"/>
          <p:cNvGraphicFramePr>
            <a:graphicFrameLocks noGrp="1"/>
          </p:cNvGraphicFramePr>
          <p:nvPr/>
        </p:nvGraphicFramePr>
        <p:xfrm>
          <a:off x="365760" y="4133087"/>
          <a:ext cx="11457432" cy="210312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3429000"/>
                <a:gridCol w="960120"/>
                <a:gridCol w="960120"/>
                <a:gridCol w="6108192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3B3B3B"/>
                          </a:solidFill>
                          <a:latin typeface="Arial"/>
                        </a:rPr>
                        <a:t>Risk</a:t>
                      </a:r>
                    </a:p>
                  </a:txBody>
                  <a:tcPr marL="64008" marR="54864" marT="18288" marB="18288" anchor="ctr">
                    <a:solidFill>
                      <a:srgbClr val="EFEF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3B3B3B"/>
                          </a:solidFill>
                          <a:latin typeface="Arial"/>
                        </a:rPr>
                        <a:t>Prob.</a:t>
                      </a:r>
                    </a:p>
                  </a:txBody>
                  <a:tcPr marL="64008" marR="54864" marT="18288" marB="18288" anchor="ctr">
                    <a:solidFill>
                      <a:srgbClr val="EFEF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3B3B3B"/>
                          </a:solidFill>
                          <a:latin typeface="Arial"/>
                        </a:rPr>
                        <a:t>Impact</a:t>
                      </a:r>
                    </a:p>
                  </a:txBody>
                  <a:tcPr marL="64008" marR="54864" marT="18288" marB="18288" anchor="ctr">
                    <a:solidFill>
                      <a:srgbClr val="EFEF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3B3B3B"/>
                          </a:solidFill>
                          <a:latin typeface="Arial"/>
                        </a:rPr>
                        <a:t>Mitigation</a:t>
                      </a:r>
                    </a:p>
                  </a:txBody>
                  <a:tcPr marL="64008" marR="54864" marT="18288" marB="18288" anchor="ctr">
                    <a:solidFill>
                      <a:srgbClr val="EFEFE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262626"/>
                          </a:solidFill>
                          <a:latin typeface="Arial"/>
                        </a:rPr>
                        <a:t>Ambiguous field reports → mis-link</a:t>
                      </a:r>
                    </a:p>
                  </a:txBody>
                  <a:tcPr marL="64008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B9770E"/>
                          </a:solidFill>
                          <a:latin typeface="Arial"/>
                        </a:rPr>
                        <a:t>Med</a:t>
                      </a:r>
                    </a:p>
                  </a:txBody>
                  <a:tcPr marL="64008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C0392B"/>
                          </a:solidFill>
                          <a:latin typeface="Arial"/>
                        </a:rPr>
                        <a:t>High</a:t>
                      </a:r>
                    </a:p>
                  </a:txBody>
                  <a:tcPr marL="64008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62626"/>
                          </a:solidFill>
                          <a:latin typeface="Arial"/>
                        </a:rPr>
                        <a:t>Agentic Clarification asks one targeted question before linking</a:t>
                      </a:r>
                    </a:p>
                  </a:txBody>
                  <a:tcPr marL="64008" marR="54864" marT="18288" marB="18288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262626"/>
                          </a:solidFill>
                          <a:latin typeface="Arial"/>
                        </a:rPr>
                        <a:t>Wrong auto-link corrupts the schedule</a:t>
                      </a:r>
                    </a:p>
                  </a:txBody>
                  <a:tcPr marL="64008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B9770E"/>
                          </a:solidFill>
                          <a:latin typeface="Arial"/>
                        </a:rPr>
                        <a:t>Med</a:t>
                      </a:r>
                    </a:p>
                  </a:txBody>
                  <a:tcPr marL="64008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C0392B"/>
                          </a:solidFill>
                          <a:latin typeface="Arial"/>
                        </a:rPr>
                        <a:t>High</a:t>
                      </a:r>
                    </a:p>
                  </a:txBody>
                  <a:tcPr marL="64008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62626"/>
                          </a:solidFill>
                          <a:latin typeface="Arial"/>
                        </a:rPr>
                        <a:t>Only ≥0.85 auto-links; rest human-reviewed; full audit trail</a:t>
                      </a:r>
                    </a:p>
                  </a:txBody>
                  <a:tcPr marL="64008" marR="54864" marT="18288" marB="18288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262626"/>
                          </a:solidFill>
                          <a:latin typeface="Arial"/>
                        </a:rPr>
                        <a:t>Domain shift — new project terminology</a:t>
                      </a:r>
                    </a:p>
                  </a:txBody>
                  <a:tcPr marL="64008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B9770E"/>
                          </a:solidFill>
                          <a:latin typeface="Arial"/>
                        </a:rPr>
                        <a:t>Med</a:t>
                      </a:r>
                    </a:p>
                  </a:txBody>
                  <a:tcPr marL="64008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B9770E"/>
                          </a:solidFill>
                          <a:latin typeface="Arial"/>
                        </a:rPr>
                        <a:t>Med</a:t>
                      </a:r>
                    </a:p>
                  </a:txBody>
                  <a:tcPr marL="64008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62626"/>
                          </a:solidFill>
                          <a:latin typeface="Arial"/>
                        </a:rPr>
                        <a:t>Active Learning recalibrates from reviewer feedback</a:t>
                      </a:r>
                    </a:p>
                  </a:txBody>
                  <a:tcPr marL="64008" marR="54864" marT="18288" marB="18288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262626"/>
                          </a:solidFill>
                          <a:latin typeface="Arial"/>
                        </a:rPr>
                        <a:t>No real Oil India dataset yet</a:t>
                      </a:r>
                    </a:p>
                  </a:txBody>
                  <a:tcPr marL="64008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C0392B"/>
                          </a:solidFill>
                          <a:latin typeface="Arial"/>
                        </a:rPr>
                        <a:t>High</a:t>
                      </a:r>
                    </a:p>
                  </a:txBody>
                  <a:tcPr marL="64008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B9770E"/>
                          </a:solidFill>
                          <a:latin typeface="Arial"/>
                        </a:rPr>
                        <a:t>Med</a:t>
                      </a:r>
                    </a:p>
                  </a:txBody>
                  <a:tcPr marL="64008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62626"/>
                          </a:solidFill>
                          <a:latin typeface="Arial"/>
                        </a:rPr>
                        <a:t>Synthetic set (42 activities, 3 DPRs, 25 labelled pairs) — SIH permits</a:t>
                      </a:r>
                    </a:p>
                  </a:txBody>
                  <a:tcPr marL="64008" marR="54864" marT="18288" marB="18288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262626"/>
                          </a:solidFill>
                          <a:latin typeface="Arial"/>
                        </a:rPr>
                        <a:t>Planner adoption resistance</a:t>
                      </a:r>
                    </a:p>
                  </a:txBody>
                  <a:tcPr marL="64008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3E7A2E"/>
                          </a:solidFill>
                          <a:latin typeface="Arial"/>
                        </a:rPr>
                        <a:t>Low</a:t>
                      </a:r>
                    </a:p>
                  </a:txBody>
                  <a:tcPr marL="64008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C0392B"/>
                          </a:solidFill>
                          <a:latin typeface="Arial"/>
                        </a:rPr>
                        <a:t>High</a:t>
                      </a:r>
                    </a:p>
                  </a:txBody>
                  <a:tcPr marL="64008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62626"/>
                          </a:solidFill>
                          <a:latin typeface="Arial"/>
                        </a:rPr>
                        <a:t>Augments the planner, doesn’t replace — reviews only medium-confidence items</a:t>
                      </a:r>
                    </a:p>
                  </a:txBody>
                  <a:tcPr marL="64008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533879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IMPACT AND BENEFITS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 wrap="square"/>
          <a:lstStyle/>
          <a:p>
            <a:pPr algn="ctr"/>
            <a:r>
              <a:rPr lang="en-US" dirty="0" sz="1100" b="0">
                <a:latin typeface="Arial"/>
              </a:rPr>
              <a:t>The Tachyons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Rounded Rectangle 17409"/>
          <p:cNvSpPr/>
          <p:nvPr/>
        </p:nvSpPr>
        <p:spPr>
          <a:xfrm>
            <a:off x="365760" y="1280160"/>
            <a:ext cx="11457432" cy="457200"/>
          </a:xfrm>
          <a:prstGeom prst="roundRect">
            <a:avLst/>
          </a:prstGeom>
          <a:solidFill>
            <a:srgbClr val="DEEA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8288" bIns="18288"/>
          <a:lstStyle/>
          <a:p>
            <a:pPr algn="ctr"/>
            <a:r>
              <a:rPr sz="1150" b="1">
                <a:solidFill>
                  <a:srgbClr val="1F4E79"/>
                </a:solidFill>
                <a:latin typeface="Arial"/>
              </a:rPr>
              <a:t>Who benefits:  </a:t>
            </a:r>
            <a:r>
              <a:rPr sz="1150" b="0">
                <a:solidFill>
                  <a:srgbClr val="262626"/>
                </a:solidFill>
                <a:latin typeface="Arial"/>
              </a:rPr>
              <a:t>EPC planners &amp; project managers at Oil India Limited — extendable to any PSU running Primavera P6 (ONGC, MRPL, GAIL).</a:t>
            </a:r>
          </a:p>
        </p:txBody>
      </p:sp>
      <p:sp>
        <p:nvSpPr>
          <p:cNvPr id="17411" name="TextBox 17410"/>
          <p:cNvSpPr txBox="1"/>
          <p:nvPr/>
        </p:nvSpPr>
        <p:spPr>
          <a:xfrm>
            <a:off x="365760" y="1847088"/>
            <a:ext cx="3392423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900">
                <a:solidFill>
                  <a:srgbClr val="5A5A5A"/>
                </a:solidFill>
                <a:latin typeface="Arial"/>
              </a:rPr>
              <a:t>OUTPUT</a:t>
            </a:r>
            <a:r>
              <a:rPr sz="800" i="1">
                <a:solidFill>
                  <a:srgbClr val="5A5A5A"/>
                </a:solidFill>
                <a:latin typeface="Arial"/>
              </a:rPr>
              <a:t>  ·  what it produces</a:t>
            </a:r>
          </a:p>
        </p:txBody>
      </p:sp>
      <p:sp>
        <p:nvSpPr>
          <p:cNvPr id="17412" name="Rounded Rectangle 17411"/>
          <p:cNvSpPr/>
          <p:nvPr/>
        </p:nvSpPr>
        <p:spPr>
          <a:xfrm>
            <a:off x="365760" y="2084831"/>
            <a:ext cx="3392423" cy="960120"/>
          </a:xfrm>
          <a:prstGeom prst="roundRect">
            <a:avLst/>
          </a:prstGeom>
          <a:solidFill>
            <a:srgbClr val="EDEF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</a:p>
          <a:p>
            <a:r>
              <a:rPr sz="1000"/>
              <a:t>200+ daily field events auto-matched; schedule updated in minutes, not days</a:t>
            </a:r>
          </a:p>
          <a:p>
            <a:r>
              <a:rPr sz="1000"/>
              <a:t>Each review item shows cascade impact on downstream activities before approval</a:t>
            </a:r>
          </a:p>
        </p:txBody>
      </p:sp>
      <p:sp>
        <p:nvSpPr>
          <p:cNvPr id="17413" name="Right Arrow 17412"/>
          <p:cNvSpPr/>
          <p:nvPr/>
        </p:nvSpPr>
        <p:spPr>
          <a:xfrm>
            <a:off x="3831335" y="2482596"/>
            <a:ext cx="493775" cy="164592"/>
          </a:xfrm>
          <a:prstGeom prst="rightArrow">
            <a:avLst/>
          </a:prstGeom>
          <a:solidFill>
            <a:srgbClr val="8497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4" name="TextBox 17413"/>
          <p:cNvSpPr txBox="1"/>
          <p:nvPr/>
        </p:nvSpPr>
        <p:spPr>
          <a:xfrm>
            <a:off x="4398264" y="1847088"/>
            <a:ext cx="3392423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900">
                <a:solidFill>
                  <a:srgbClr val="5A5A5A"/>
                </a:solidFill>
                <a:latin typeface="Arial"/>
              </a:rPr>
              <a:t>OUTCOME</a:t>
            </a:r>
            <a:r>
              <a:rPr sz="800" i="1">
                <a:solidFill>
                  <a:srgbClr val="5A5A5A"/>
                </a:solidFill>
                <a:latin typeface="Arial"/>
              </a:rPr>
              <a:t>  ·  what changes</a:t>
            </a:r>
          </a:p>
        </p:txBody>
      </p:sp>
      <p:sp>
        <p:nvSpPr>
          <p:cNvPr id="17415" name="Rounded Rectangle 17414"/>
          <p:cNvSpPr/>
          <p:nvPr/>
        </p:nvSpPr>
        <p:spPr>
          <a:xfrm>
            <a:off x="4398264" y="2084831"/>
            <a:ext cx="3392423" cy="960120"/>
          </a:xfrm>
          <a:prstGeom prst="roundRect">
            <a:avLst/>
          </a:prstGeom>
          <a:solidFill>
            <a:srgbClr val="D3E2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</a:p>
          <a:p>
            <a:r>
              <a:rPr sz="1000"/>
              <a:t>Lag 24–72 hrs → near real-time</a:t>
            </a:r>
          </a:p>
          <a:p>
            <a:r>
              <a:rPr sz="1000"/>
              <a:t>Planner time 3–5 hrs/day → &lt;30 min</a:t>
            </a:r>
          </a:p>
          <a:p>
            <a:r>
              <a:rPr sz="1000"/>
              <a:t>Mis-link rate 10–15% → &lt;2%</a:t>
            </a:r>
          </a:p>
          <a:p>
            <a:r>
              <a:rPr sz="1000"/>
              <a:t>Review queue: RL-ranked by impact</a:t>
            </a:r>
          </a:p>
        </p:txBody>
      </p:sp>
      <p:sp>
        <p:nvSpPr>
          <p:cNvPr id="17416" name="Right Arrow 17415"/>
          <p:cNvSpPr/>
          <p:nvPr/>
        </p:nvSpPr>
        <p:spPr>
          <a:xfrm>
            <a:off x="7863840" y="2482596"/>
            <a:ext cx="493775" cy="164592"/>
          </a:xfrm>
          <a:prstGeom prst="rightArrow">
            <a:avLst/>
          </a:prstGeom>
          <a:solidFill>
            <a:srgbClr val="8497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7" name="TextBox 17416"/>
          <p:cNvSpPr txBox="1"/>
          <p:nvPr/>
        </p:nvSpPr>
        <p:spPr>
          <a:xfrm>
            <a:off x="8430767" y="1847088"/>
            <a:ext cx="3392423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900">
                <a:solidFill>
                  <a:srgbClr val="5A5A5A"/>
                </a:solidFill>
                <a:latin typeface="Arial"/>
              </a:rPr>
              <a:t>IMPACT</a:t>
            </a:r>
            <a:r>
              <a:rPr sz="800" i="1">
                <a:solidFill>
                  <a:srgbClr val="5A5A5A"/>
                </a:solidFill>
                <a:latin typeface="Arial"/>
              </a:rPr>
              <a:t>  ·  why it matters</a:t>
            </a:r>
          </a:p>
        </p:txBody>
      </p:sp>
      <p:sp>
        <p:nvSpPr>
          <p:cNvPr id="17418" name="Rounded Rectangle 17417"/>
          <p:cNvSpPr/>
          <p:nvPr/>
        </p:nvSpPr>
        <p:spPr>
          <a:xfrm>
            <a:off x="8430767" y="2084831"/>
            <a:ext cx="3392423" cy="960120"/>
          </a:xfrm>
          <a:prstGeom prst="roundRect">
            <a:avLst/>
          </a:prstGeom>
          <a:solidFill>
            <a:srgbClr val="C6E0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</a:p>
          <a:p>
            <a:r>
              <a:rPr sz="1000"/>
              <a:t>Managers act on live data — fewer idle cranes &amp; fewer cost overruns</a:t>
            </a:r>
          </a:p>
          <a:p>
            <a:r>
              <a:rPr sz="1000"/>
              <a:t>Cascade prediction enables proactive intervention, not reactive firefighting</a:t>
            </a:r>
          </a:p>
        </p:txBody>
      </p:sp>
      <p:sp>
        <p:nvSpPr>
          <p:cNvPr id="17419" name="Rounded Rectangle 17418"/>
          <p:cNvSpPr/>
          <p:nvPr/>
        </p:nvSpPr>
        <p:spPr>
          <a:xfrm>
            <a:off x="365760" y="3273552"/>
            <a:ext cx="2692908" cy="2880360"/>
          </a:xfrm>
          <a:prstGeom prst="roundRect">
            <a:avLst/>
          </a:prstGeom>
          <a:solidFill>
            <a:srgbClr val="E1EC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tIns="91440" bIns="54864"/>
          <a:lstStyle/>
          <a:p>
            <a:pPr algn="l">
              <a:spcAft>
                <a:spcPts val="500"/>
              </a:spcAft>
            </a:pPr>
            <a:r>
              <a:rPr b="1" sz="1150">
                <a:solidFill>
                  <a:srgbClr val="1F4E79"/>
                </a:solidFill>
                <a:latin typeface="Arial"/>
              </a:rPr>
              <a:t>Economic &amp; human value</a:t>
            </a:r>
          </a:p>
          <a:p>
            <a:pPr marL="164592" indent="-164592">
              <a:lnSpc>
                <a:spcPct val="103000"/>
              </a:lnSpc>
              <a:spcAft>
                <a:spcPts val="400"/>
              </a:spcAft>
              <a:buFont typeface="Arial"/>
              <a:buChar char="•"/>
            </a:pPr>
            <a:r>
              <a:rPr sz="950">
                <a:solidFill>
                  <a:srgbClr val="262626"/>
                </a:solidFill>
                <a:latin typeface="Arial"/>
              </a:rPr>
              <a:t>3–5 planner-hrs saved/day, per project (≈114 hrs/day across OIL's 38+ EPC projects)</a:t>
            </a:r>
          </a:p>
          <a:p>
            <a:pPr marL="164592" indent="-164592">
              <a:lnSpc>
                <a:spcPct val="103000"/>
              </a:lnSpc>
              <a:spcAft>
                <a:spcPts val="400"/>
              </a:spcAft>
              <a:buFont typeface="Arial"/>
              <a:buChar char="•"/>
            </a:pPr>
            <a:r>
              <a:rPr sz="950">
                <a:solidFill>
                  <a:srgbClr val="262626"/>
                </a:solidFill>
                <a:latin typeface="Arial"/>
              </a:rPr>
              <a:t>Fewer crane idle-days &amp; schedule-driven cost overruns</a:t>
            </a:r>
          </a:p>
          <a:p>
            <a:pPr marL="164592" indent="-164592">
              <a:lnSpc>
                <a:spcPct val="103000"/>
              </a:lnSpc>
              <a:spcAft>
                <a:spcPts val="400"/>
              </a:spcAft>
              <a:buFont typeface="Arial"/>
              <a:buChar char="•"/>
            </a:pPr>
            <a:r>
              <a:rPr sz="950">
                <a:solidFill>
                  <a:srgbClr val="262626"/>
                </a:solidFill>
                <a:latin typeface="Arial"/>
              </a:rPr>
              <a:t>Planners shift from manual data entry to real engineering decisions</a:t>
            </a:r>
          </a:p>
          <a:p>
            <a:pPr marL="164592" indent="-164592">
              <a:lnSpc>
                <a:spcPct val="103000"/>
              </a:lnSpc>
              <a:spcAft>
                <a:spcPts val="400"/>
              </a:spcAft>
              <a:buFont typeface="Arial"/>
              <a:buChar char="•"/>
            </a:pPr>
            <a:r>
              <a:rPr sz="950">
                <a:solidFill>
                  <a:srgbClr val="262626"/>
                </a:solidFill>
                <a:latin typeface="Arial"/>
              </a:rPr>
              <a:t>Better project delivery timelines → direct cost saving</a:t>
            </a:r>
          </a:p>
        </p:txBody>
      </p:sp>
      <p:sp>
        <p:nvSpPr>
          <p:cNvPr id="17420" name="Rounded Rectangle 17419"/>
          <p:cNvSpPr/>
          <p:nvPr/>
        </p:nvSpPr>
        <p:spPr>
          <a:xfrm>
            <a:off x="3287268" y="3273552"/>
            <a:ext cx="2692908" cy="2880360"/>
          </a:xfrm>
          <a:prstGeom prst="roundRect">
            <a:avLst/>
          </a:prstGeom>
          <a:solidFill>
            <a:srgbClr val="E1EC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tIns="91440" bIns="54864"/>
          <a:lstStyle/>
          <a:p>
            <a:pPr algn="l">
              <a:spcAft>
                <a:spcPts val="500"/>
              </a:spcAft>
            </a:pPr>
            <a:r>
              <a:rPr sz="1150" b="1"/>
              <a:t>Trust &amp; governance</a:t>
            </a:r>
          </a:p>
          <a:p>
            <a:r>
              <a:rPr sz="950"/>
              <a:t>Every update auditable: report → event → scores → decision → schedule</a:t>
            </a:r>
          </a:p>
          <a:p>
            <a:r>
              <a:rPr sz="950"/>
              <a:t>Multi-source conflict detection flags contradictory reports automatically</a:t>
            </a:r>
          </a:p>
          <a:p>
            <a:r>
              <a:rPr sz="950"/>
              <a:t>Human-in-the-loop keeps mis-links below 2%</a:t>
            </a:r>
          </a:p>
          <a:p>
            <a:r>
              <a:rPr sz="950"/>
              <a:t>RL + active learning logged on every decision</a:t>
            </a:r>
          </a:p>
        </p:txBody>
      </p:sp>
      <p:sp>
        <p:nvSpPr>
          <p:cNvPr id="17421" name="Rounded Rectangle 17420"/>
          <p:cNvSpPr/>
          <p:nvPr/>
        </p:nvSpPr>
        <p:spPr>
          <a:xfrm>
            <a:off x="6208776" y="3273552"/>
            <a:ext cx="2692908" cy="2880360"/>
          </a:xfrm>
          <a:prstGeom prst="roundRect">
            <a:avLst/>
          </a:prstGeom>
          <a:solidFill>
            <a:srgbClr val="E4F0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tIns="91440" bIns="54864"/>
          <a:lstStyle/>
          <a:p>
            <a:pPr algn="l">
              <a:spcAft>
                <a:spcPts val="500"/>
              </a:spcAft>
            </a:pPr>
            <a:r>
              <a:rPr sz="1150" b="1"/>
              <a:t>Foresight &amp; institutional memory</a:t>
            </a:r>
          </a:p>
          <a:p>
            <a:r>
              <a:rPr sz="950"/>
              <a:t>Retains variance, delay cause &amp; productivity after project closes</a:t>
            </a:r>
          </a:p>
          <a:p>
            <a:r>
              <a:rPr sz="950"/>
              <a:t>Powers benchmarking &amp; delay-risk alerts on future projects</a:t>
            </a:r>
          </a:p>
          <a:p>
            <a:r>
              <a:rPr sz="950"/>
              <a:t>Cascade impact turns reactive recording into predictive planning</a:t>
            </a:r>
          </a:p>
          <a:p>
            <a:r>
              <a:rPr sz="950"/>
              <a:t>e.g. flags piping-erection activities that historically slip (~68%)</a:t>
            </a:r>
          </a:p>
        </p:txBody>
      </p:sp>
      <p:sp>
        <p:nvSpPr>
          <p:cNvPr id="17422" name="Rounded Rectangle 17421"/>
          <p:cNvSpPr/>
          <p:nvPr/>
        </p:nvSpPr>
        <p:spPr>
          <a:xfrm>
            <a:off x="9130284" y="3273552"/>
            <a:ext cx="2692908" cy="2880360"/>
          </a:xfrm>
          <a:prstGeom prst="roundRect">
            <a:avLst/>
          </a:prstGeom>
          <a:solidFill>
            <a:srgbClr val="E4F0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tIns="91440" bIns="54864"/>
          <a:lstStyle/>
          <a:p>
            <a:pPr algn="l">
              <a:spcAft>
                <a:spcPts val="500"/>
              </a:spcAft>
            </a:pPr>
            <a:r>
              <a:rPr b="1" sz="1150">
                <a:solidFill>
                  <a:srgbClr val="2E5D1F"/>
                </a:solidFill>
                <a:latin typeface="Arial"/>
              </a:rPr>
              <a:t>National reach &amp; scale</a:t>
            </a:r>
          </a:p>
          <a:p>
            <a:pPr marL="164592" indent="-164592">
              <a:lnSpc>
                <a:spcPct val="103000"/>
              </a:lnSpc>
              <a:spcAft>
                <a:spcPts val="400"/>
              </a:spcAft>
              <a:buFont typeface="Arial"/>
              <a:buChar char="•"/>
            </a:pPr>
            <a:r>
              <a:rPr sz="950">
                <a:solidFill>
                  <a:srgbClr val="262626"/>
                </a:solidFill>
                <a:latin typeface="Arial"/>
              </a:rPr>
              <a:t>Open-source core, no foreign-software lock-in — Make in India</a:t>
            </a:r>
          </a:p>
          <a:p>
            <a:pPr marL="164592" indent="-164592">
              <a:lnSpc>
                <a:spcPct val="103000"/>
              </a:lnSpc>
              <a:spcAft>
                <a:spcPts val="400"/>
              </a:spcAft>
              <a:buFont typeface="Arial"/>
              <a:buChar char="•"/>
            </a:pPr>
            <a:r>
              <a:rPr sz="950">
                <a:solidFill>
                  <a:srgbClr val="262626"/>
                </a:solidFill>
                <a:latin typeface="Arial"/>
              </a:rPr>
              <a:t>Pilot one OIL project → 38+ OIL projects → PSUs on Primavera P6</a:t>
            </a:r>
          </a:p>
          <a:p>
            <a:pPr marL="164592" indent="-164592">
              <a:lnSpc>
                <a:spcPct val="103000"/>
              </a:lnSpc>
              <a:spcAft>
                <a:spcPts val="400"/>
              </a:spcAft>
              <a:buFont typeface="Arial"/>
              <a:buChar char="•"/>
            </a:pPr>
            <a:r>
              <a:rPr sz="950">
                <a:solidFill>
                  <a:srgbClr val="262626"/>
                </a:solidFill>
                <a:latin typeface="Arial"/>
              </a:rPr>
              <a:t>Aligns with Digital India PSU automation</a:t>
            </a:r>
          </a:p>
          <a:p>
            <a:pPr marL="164592" indent="-164592">
              <a:lnSpc>
                <a:spcPct val="103000"/>
              </a:lnSpc>
              <a:spcAft>
                <a:spcPts val="400"/>
              </a:spcAft>
              <a:buFont typeface="Arial"/>
              <a:buChar char="•"/>
            </a:pPr>
            <a:r>
              <a:rPr sz="950">
                <a:solidFill>
                  <a:srgbClr val="262626"/>
                </a:solidFill>
                <a:latin typeface="Arial"/>
              </a:rPr>
              <a:t>Planners keep writing DPRs as today — no new format to adopt</a:t>
            </a:r>
          </a:p>
        </p:txBody>
      </p:sp>
    </p:spTree>
    <p:extLst>
      <p:ext uri="{BB962C8B-B14F-4D97-AF65-F5344CB8AC3E}">
        <p14:creationId xmlns:p14="http://schemas.microsoft.com/office/powerpoint/2010/main" val="29971441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RESEARCH  AND REFERENCES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9" name="Oval 8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 wrap="square"/>
          <a:lstStyle/>
          <a:p>
            <a:pPr algn="ctr"/>
            <a:r>
              <a:rPr lang="en-US" dirty="0" sz="1100" b="0">
                <a:latin typeface="Arial"/>
              </a:rPr>
              <a:t>The Tachyons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Rounded Rectangle 17409"/>
          <p:cNvSpPr/>
          <p:nvPr/>
        </p:nvSpPr>
        <p:spPr>
          <a:xfrm>
            <a:off x="365760" y="1371600"/>
            <a:ext cx="5532120" cy="4754880"/>
          </a:xfrm>
          <a:prstGeom prst="roundRect">
            <a:avLst/>
          </a:prstGeom>
          <a:solidFill>
            <a:srgbClr val="E1EC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28016" tIns="109728" bIns="73152"/>
          <a:lstStyle/>
          <a:p>
            <a:pPr algn="ctr">
              <a:spcAft>
                <a:spcPts val="700"/>
              </a:spcAft>
            </a:pPr>
            <a:r>
              <a:rPr sz="1400" b="1"/>
              <a:t>What our research establishes</a:t>
            </a:r>
          </a:p>
          <a:p>
            <a:r>
              <a:rPr sz="1100"/>
              <a:t>Problem is real — EPC planners spend 3–5 hrs/day manually reconciling site reports; updates reach the schedule 24–72 hrs late.</a:t>
            </a:r>
          </a:p>
          <a:p>
            <a:r>
              <a:rPr sz="1100"/>
              <a:t>Prior tools — P6 &amp; MS Project plan well, but capture site progress only through manual entry. No auto-linking, no learning.</a:t>
            </a:r>
          </a:p>
          <a:p>
            <a:r>
              <a:rPr sz="1100"/>
              <a:t>The gap — No EPC tool reads free-text, auto-links, clarifies ambiguity, predicts cascade impact, or learns from corrections.</a:t>
            </a:r>
          </a:p>
          <a:p>
            <a:r>
              <a:rPr sz="1100"/>
              <a:t>Why our method works — Semantic matching (SBERT), contextual bandits (RL), and BFS cascade analysis are established techniques, newly combined for EPC reconciliation.</a:t>
            </a:r>
          </a:p>
          <a:p>
            <a:r>
              <a:rPr sz="1100"/>
              <a:t>Data &amp; standards — P6 XER is an open export; validated on a synthetic EPC dataset (42 activities, 3 DPRs, 25 labelled pairs).</a:t>
            </a:r>
          </a:p>
        </p:txBody>
      </p:sp>
      <p:sp>
        <p:nvSpPr>
          <p:cNvPr id="17411" name="Rounded Rectangle 17410"/>
          <p:cNvSpPr/>
          <p:nvPr/>
        </p:nvSpPr>
        <p:spPr>
          <a:xfrm>
            <a:off x="6108192" y="1371600"/>
            <a:ext cx="5715000" cy="4754880"/>
          </a:xfrm>
          <a:prstGeom prst="roundRect">
            <a:avLst/>
          </a:prstGeom>
          <a:solidFill>
            <a:srgbClr val="E4F0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28016" tIns="109728" bIns="73152"/>
          <a:lstStyle/>
          <a:p>
            <a:pPr algn="ctr">
              <a:spcAft>
                <a:spcPts val="600"/>
              </a:spcAft>
            </a:pPr>
            <a:r>
              <a:rPr sz="1400" b="1"/>
              <a:t>References — authoritative sources only</a:t>
            </a:r>
          </a:p>
          <a:p>
            <a:r>
              <a:rPr sz="1050" b="1"/>
              <a:t>PROBLEM EVIDENCE</a:t>
            </a:r>
          </a:p>
          <a:p>
            <a:r>
              <a:rPr sz="1000"/>
              <a:t>Oil India Limited — annual &amp; project reports (EPC scale)</a:t>
            </a:r>
          </a:p>
          <a:p>
            <a:r>
              <a:rPr sz="1000"/>
              <a:t>EPC schedule-management industry reports</a:t>
            </a:r>
          </a:p>
          <a:p>
            <a:r>
              <a:rPr sz="1050" b="1"/>
              <a:t>STATE OF THE ART</a:t>
            </a:r>
          </a:p>
          <a:p>
            <a:r>
              <a:rPr sz="1000"/>
              <a:t>Reimers &amp; Gurevych (2019), Sentence-BERT — EMNLP</a:t>
            </a:r>
          </a:p>
          <a:p>
            <a:r>
              <a:rPr sz="1000"/>
              <a:t>Settles (2009), Active Learning Literature Survey — UW–Madison</a:t>
            </a:r>
          </a:p>
          <a:p>
            <a:r>
              <a:rPr sz="1000"/>
              <a:t>Li et al. (2010), Contextual Bandits for Recommendation — WWW</a:t>
            </a:r>
          </a:p>
          <a:p>
            <a:r>
              <a:rPr sz="1000"/>
              <a:t>Oracle, Primavera P6 documentation (manual-entry workflow)</a:t>
            </a:r>
          </a:p>
          <a:p>
            <a:r>
              <a:rPr sz="1050" b="1"/>
              <a:t>IMPLEMENTATION RESOURCES</a:t>
            </a:r>
          </a:p>
          <a:p>
            <a:r>
              <a:rPr sz="1000"/>
              <a:t>Hugging Face — sentence-transformers · all-MiniLM-L6-v2</a:t>
            </a:r>
          </a:p>
          <a:p>
            <a:r>
              <a:rPr sz="1000"/>
              <a:t>Oracle — Primavera P6 XER format specification</a:t>
            </a:r>
          </a:p>
          <a:p>
            <a:r>
              <a:rPr sz="1000"/>
              <a:t>github.com/Amrithalekshmy/synapse — code + dataset</a:t>
            </a:r>
          </a:p>
        </p:txBody>
      </p:sp>
    </p:spTree>
    <p:extLst>
      <p:ext uri="{BB962C8B-B14F-4D97-AF65-F5344CB8AC3E}">
        <p14:creationId xmlns:p14="http://schemas.microsoft.com/office/powerpoint/2010/main" val="391678861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7489</TotalTime>
  <Words>325</Words>
  <Application>Microsoft Office PowerPoint</Application>
  <PresentationFormat>Widescreen</PresentationFormat>
  <Paragraphs>62</Paragraphs>
  <Slides>7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5" baseType="lpstr">
      <vt:lpstr>ＭＳ Ｐゴシック</vt:lpstr>
      <vt:lpstr>Arial</vt:lpstr>
      <vt:lpstr>Calibri</vt:lpstr>
      <vt:lpstr>Garamond</vt:lpstr>
      <vt:lpstr>Times New Roman</vt:lpstr>
      <vt:lpstr>TradeGothic</vt:lpstr>
      <vt:lpstr>Wingdings</vt:lpstr>
      <vt:lpstr>Office Theme</vt:lpstr>
      <vt:lpstr>SMART INDIA HACKATHON 2026</vt:lpstr>
      <vt:lpstr> IDEA TITLE</vt:lpstr>
      <vt:lpstr>TECHNICAL APPROACH</vt:lpstr>
      <vt:lpstr>FEASIBILITY AND VIABILITY</vt:lpstr>
      <vt:lpstr>IMPACT AND BENEFITS</vt:lpstr>
      <vt:lpstr>RESEARCH  AND REFERENCES</vt:lpstr>
      <vt:lpstr>PowerPoint Presentation</vt:lpstr>
    </vt:vector>
  </TitlesOfParts>
  <Manager/>
  <Company>Crowdfunder, Inc.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Investor Pitch Deck Template</dc:title>
  <dc:subject/>
  <dc:creator>Crowdfunder</dc:creator>
  <cp:keywords/>
  <dc:description/>
  <cp:lastModifiedBy>AICTE</cp:lastModifiedBy>
  <cp:revision>148</cp:revision>
  <dcterms:created xsi:type="dcterms:W3CDTF">2013-12-12T18:46:50Z</dcterms:created>
  <dcterms:modified xsi:type="dcterms:W3CDTF">2026-06-02T09:29:39Z</dcterms:modified>
  <cp:category/>
</cp:coreProperties>
</file>