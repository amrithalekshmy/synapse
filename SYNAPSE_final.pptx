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SIH26122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AI/ML-based Automatic Reconciliation and Update of EPC Project Schedule from Daily Site Activity / Progress Reports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</a:rPr>
              <a:t>The Tachyons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Solution Name –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SYNAPSE — Synchronized NLP Activity-to-Plan Scheduling Engine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ctr"/>
            <a:r>
              <a:rPr b="1" sz="4000">
                <a:solidFill>
                  <a:srgbClr val="1F4E79"/>
                </a:solidFill>
                <a:latin typeface="Arial"/>
              </a:rPr>
              <a:t>SYNAPSE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100" b="0">
                <a:latin typeface="Arial"/>
              </a:rPr>
              <a:t>The Tachyons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65760" y="1298448"/>
            <a:ext cx="11457432" cy="841248"/>
          </a:xfrm>
          <a:prstGeom prst="roundRect">
            <a:avLst/>
          </a:prstGeom>
          <a:solidFill>
            <a:srgbClr val="DE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ctr"/>
            <a:r>
              <a:rPr sz="1350" b="1"/>
              <a:t>The problem: </a:t>
            </a:r>
            <a:r>
              <a:rPr sz="1350"/>
              <a:t>EPC planners at Oil India spend 3–5 hrs/day manually matching 50–200 daily field reports to Primavera P6 schedules. Updates lag 24–72 hrs. Mis-link rate: ~10–15%. When projects close, all execution knowledge is lost.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2377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How SYNAPSE solves it — end to end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2743200"/>
            <a:ext cx="5394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2" indent="-214312"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sz="1200" b="0"/>
              <a:t>① Supervisor speaks or types a field report → SYNAPSE extracts structured execution events (LLM + rule-based hybrid)</a:t>
            </a:r>
          </a:p>
          <a:p>
            <a:r>
              <a:rPr sz="1200" b="0"/>
              <a:t>② 7-layer AI matching engine links each event to the correct P6 activity — semantic, identifier, discipline, location, WBS, temporal, dependency</a:t>
            </a:r>
          </a:p>
          <a:p>
            <a:r>
              <a:rPr sz="1200" b="0"/>
              <a:t>③ Confidence-gated routing: ≥85% auto-linked · 65–85% RL-prioritised review queue · &lt;65% agentic clarification asks one targeted question</a:t>
            </a:r>
          </a:p>
          <a:p>
            <a:r>
              <a:rPr sz="1200" b="0"/>
              <a:t>④ RL Priority Queue reorders review items by downstream project impact — learns from every reviewer decision via online gradient descent</a:t>
            </a:r>
          </a:p>
          <a:p>
            <a:r>
              <a:rPr sz="1200" b="0"/>
              <a:t>⑤ Cascade Impact Engine (BFS) shows how confirming a delay propagates through the successor graph before the reviewer decides</a:t>
            </a:r>
          </a:p>
          <a:p>
            <a:r>
              <a:rPr sz="1200" b="0"/>
              <a:t>⑥ Knowledge Base retains delay patterns, causes &amp; productivity across projects — powers risk alerts on future activities</a:t>
            </a:r>
          </a:p>
        </p:txBody>
      </p:sp>
      <p:graphicFrame>
        <p:nvGraphicFramePr>
          <p:cNvPr id="15365" name="Table 15364"/>
          <p:cNvGraphicFramePr>
            <a:graphicFrameLocks noGrp="1"/>
          </p:cNvGraphicFramePr>
          <p:nvPr/>
        </p:nvGraphicFramePr>
        <p:xfrm>
          <a:off x="6080760" y="2487168"/>
          <a:ext cx="5742431" cy="475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1051560"/>
                <a:gridCol w="1234440"/>
                <a:gridCol w="117043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1"/>
                        <a:t>Capability</a:t>
                      </a:r>
                    </a:p>
                  </a:txBody>
                  <a:tcPr marL="45720" marR="45720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/>
                        <a:t>Primavera P6</a:t>
                      </a:r>
                    </a:p>
                  </a:txBody>
                  <a:tcPr marL="45720" marR="45720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/>
                        <a:t>MS Project</a:t>
                      </a:r>
                    </a:p>
                  </a:txBody>
                  <a:tcPr marL="45720" marR="45720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/>
                        <a:t>SYNAPSE</a:t>
                      </a:r>
                    </a:p>
                  </a:txBody>
                  <a:tcPr marL="45720" marR="45720" marT="18288" marB="18288" anchor="ctr">
                    <a:solidFill>
                      <a:srgbClr val="4C7A3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/>
                        <a:t>Reads free-text / voice field reports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4D399"/>
                          </a:solidFill>
                        </a:rPr>
                        <a:t>✓  Hybrid LLM + rule extraction</a:t>
                      </a:r>
                    </a:p>
                  </a:txBody>
                  <a:tcPr marL="45720" marR="45720" marT="18288" marB="18288" anchor="ctr">
                    <a:solidFill>
                      <a:srgbClr val="E2EFD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/>
                        <a:t>Auto-links events to schedule activities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4D399"/>
                          </a:solidFill>
                        </a:rPr>
                        <a:t>✓  7-layer semantic matching</a:t>
                      </a:r>
                    </a:p>
                  </a:txBody>
                  <a:tcPr marL="45720" marR="45720" marT="18288" marB="18288" anchor="ctr">
                    <a:solidFill>
                      <a:srgbClr val="E2EFD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/>
                        <a:t>Resolves ambiguity at source (Agentic AI)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4D399"/>
                          </a:solidFill>
                        </a:rPr>
                        <a:t>✓  Clarification loop</a:t>
                      </a:r>
                    </a:p>
                  </a:txBody>
                  <a:tcPr marL="45720" marR="45720" marT="18288" marB="18288" anchor="ctr">
                    <a:solidFill>
                      <a:srgbClr val="E2EFD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/>
                        <a:t>Learns from reviewer corrections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4D399"/>
                          </a:solidFill>
                        </a:rPr>
                        <a:t>✓  Active Learning feedback</a:t>
                      </a:r>
                    </a:p>
                  </a:txBody>
                  <a:tcPr marL="45720" marR="45720" marT="18288" marB="18288" anchor="ctr">
                    <a:solidFill>
                      <a:srgbClr val="E2EFD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/>
                        <a:t>Predicts downstream cascade impact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4D399"/>
                          </a:solidFill>
                        </a:rPr>
                        <a:t>✓  BFS successor traversal</a:t>
                      </a:r>
                    </a:p>
                  </a:txBody>
                  <a:tcPr marL="45720" marR="45720" marT="18288" marB="18288" anchor="ctr">
                    <a:solidFill>
                      <a:srgbClr val="E2EFDA"/>
                    </a:solidFill>
                  </a:tcPr>
                </a:tc>
              </a:tr>
              <a:tr h="350000">
                <a:tc>
                  <a:txBody>
                    <a:bodyPr wrap="square"/>
                    <a:lstStyle/>
                    <a:p>
                      <a:r>
                        <a:rPr sz="1000" b="1"/>
                        <a:t>RL-prioritised review queue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87171"/>
                          </a:solidFill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87171"/>
                          </a:solidFill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4D399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2EFDA"/>
                    </a:solidFill>
                  </a:tcPr>
                </a:tc>
              </a:tr>
              <a:tr h="350000">
                <a:tc>
                  <a:txBody>
                    <a:bodyPr wrap="square"/>
                    <a:lstStyle/>
                    <a:p>
                      <a:r>
                        <a:rPr sz="1000" b="1"/>
                        <a:t>Cascade impact prediction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87171"/>
                          </a:solidFill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87171"/>
                          </a:solidFill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4D399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2EFDA"/>
                    </a:solidFill>
                  </a:tcPr>
                </a:tc>
              </a:tr>
              <a:tr h="350000">
                <a:tc>
                  <a:txBody>
                    <a:bodyPr wrap="square"/>
                    <a:lstStyle/>
                    <a:p>
                      <a:r>
                        <a:rPr sz="1000" b="1"/>
                        <a:t>Cross-source conflict detection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87171"/>
                          </a:solidFill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F87171"/>
                          </a:solidFill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34D399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2EFD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900" b="1"/>
                        <a:t>RL-prioritised review queue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4D399"/>
                          </a:solidFill>
                        </a:rPr>
                        <a:t>✓  Contextual bandit, online learning</a:t>
                      </a:r>
                    </a:p>
                  </a:txBody>
                  <a:tcPr marL="45720" marR="45720" marT="18288" marB="18288" anchor="ctr">
                    <a:solidFill>
                      <a:srgbClr val="E2EFD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900" b="1"/>
                        <a:t>Cross-source conflict detection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4D399"/>
                          </a:solidFill>
                        </a:rPr>
                        <a:t>✓  State regression flagging</a:t>
                      </a:r>
                    </a:p>
                  </a:txBody>
                  <a:tcPr marL="45720" marR="45720" marT="18288" marB="18288" anchor="ctr">
                    <a:solidFill>
                      <a:srgbClr val="E2EFDA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900" b="1"/>
                        <a:t>Historical delay risk intelligence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F87171"/>
                          </a:solidFill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34D399"/>
                          </a:solidFill>
                        </a:rPr>
                        <a:t>✓  Institutional memory + NL query</a:t>
                      </a:r>
                    </a:p>
                  </a:txBody>
                  <a:tcPr marL="45720" marR="45720" marT="18288" marB="18288"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15366" name="TextBox 15365"/>
          <p:cNvSpPr txBox="1"/>
          <p:nvPr/>
        </p:nvSpPr>
        <p:spPr>
          <a:xfrm>
            <a:off x="365760" y="574243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/>
              <a:t>Three innovations no existing tool offers:  </a:t>
            </a:r>
            <a:r>
              <a:rPr sz="1200"/>
              <a:t>① RL Priority Queue — contextual bandit learns optimal review ordering from every decision  ② Cascade Impact Prediction — BFS reveals downstream project slip before approval  ③ Active Learning — matching engine recalibrates from every correction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100" b="0">
                <a:latin typeface="Arial"/>
              </a:rPr>
              <a:t>The Tachyons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389888"/>
            <a:ext cx="166969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/>
              <a:t>INGEST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691640"/>
            <a:ext cx="1669694" cy="1417320"/>
          </a:xfrm>
          <a:prstGeom prst="round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bIns="36576"/>
          <a:lstStyle/>
          <a:p>
            <a:pPr algn="ctr">
              <a:spcAft>
                <a:spcPts val="300"/>
              </a:spcAft>
            </a:pPr>
            <a:r>
              <a:rPr sz="1050" b="1"/>
              <a:t>Multimodal Input</a:t>
            </a:r>
          </a:p>
          <a:p>
            <a:r>
              <a:rPr sz="850"/>
              <a:t>DPRs (free text, PDF)</a:t>
            </a:r>
          </a:p>
          <a:p>
            <a:r>
              <a:rPr sz="850"/>
              <a:t>Discipline CSVs / Excel</a:t>
            </a:r>
          </a:p>
          <a:p>
            <a:r>
              <a:rPr sz="850"/>
              <a:t>Supervisor voice (Web Speech API)</a:t>
            </a:r>
          </a:p>
          <a:p>
            <a:r>
              <a:rPr sz="850"/>
              <a:t>Supervisor typed messages</a:t>
            </a:r>
          </a:p>
          <a:p>
            <a:r>
              <a:rPr sz="850"/>
              <a:t>P6 XER · P6 XML · MSP XML · CSV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812694" y="1389888"/>
            <a:ext cx="166969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/>
              <a:t>EXTRACT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812694" y="1691640"/>
            <a:ext cx="1669694" cy="1417320"/>
          </a:xfrm>
          <a:prstGeom prst="roundRect">
            <a:avLst/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bIns="36576"/>
          <a:lstStyle/>
          <a:p>
            <a:pPr algn="ctr">
              <a:spcAft>
                <a:spcPts val="300"/>
              </a:spcAft>
            </a:pPr>
            <a:r>
              <a:rPr sz="1050" b="1"/>
              <a:t>Hybrid AI Extraction</a:t>
            </a:r>
          </a:p>
          <a:p>
            <a:r>
              <a:rPr sz="850"/>
              <a:t>LLM (OpenRouter, free model)</a:t>
            </a:r>
          </a:p>
          <a:p>
            <a:r>
              <a:rPr sz="850"/>
              <a:t>Rule-based fallback (always active)</a:t>
            </a:r>
          </a:p>
          <a:p>
            <a:r>
              <a:rPr sz="850"/>
              <a:t>Confidence scoring per field</a:t>
            </a:r>
          </a:p>
          <a:p>
            <a:r>
              <a:rPr sz="850"/>
              <a:t>Cross-event deduplication</a:t>
            </a:r>
          </a:p>
          <a:p>
            <a:r>
              <a:rPr sz="850"/>
              <a:t>→ structured ExecutionEvent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259628" y="1389888"/>
            <a:ext cx="166969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/>
              <a:t>INTELLIGENCE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259628" y="1691640"/>
            <a:ext cx="1669694" cy="1417320"/>
          </a:xfrm>
          <a:prstGeom prst="roundRect">
            <a:avLst/>
          </a:prstGeom>
          <a:solidFill>
            <a:srgbClr val="D3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bIns="36576"/>
          <a:lstStyle/>
          <a:p>
            <a:pPr algn="ctr">
              <a:spcAft>
                <a:spcPts val="300"/>
              </a:spcAft>
            </a:pPr>
            <a:r>
              <a:rPr sz="1050" b="1"/>
              <a:t>Six AI Capabilities</a:t>
            </a:r>
          </a:p>
          <a:p>
            <a:r>
              <a:rPr sz="850"/>
              <a:t>① 7-layer semantic matching</a:t>
            </a:r>
          </a:p>
          <a:p>
            <a:r>
              <a:rPr sz="850"/>
              <a:t>② RL Priority Queue (bandit)</a:t>
            </a:r>
          </a:p>
          <a:p>
            <a:r>
              <a:rPr sz="850"/>
              <a:t>③ Cascade Impact (BFS graph)</a:t>
            </a:r>
          </a:p>
          <a:p>
            <a:r>
              <a:rPr sz="850"/>
              <a:t>④ Conflict + regression detect</a:t>
            </a:r>
          </a:p>
          <a:p>
            <a:r>
              <a:rPr sz="850"/>
              <a:t>⑤ Knowledge Base (hist. risk)</a:t>
            </a:r>
          </a:p>
          <a:p>
            <a:r>
              <a:rPr sz="850"/>
              <a:t>⑥ Active Learning (feedback)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706563" y="1389888"/>
            <a:ext cx="166969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/>
              <a:t>DECISION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706563" y="1691640"/>
            <a:ext cx="1669694" cy="1417320"/>
          </a:xfrm>
          <a:prstGeom prst="roundRect">
            <a:avLst/>
          </a:prstGeom>
          <a:solidFill>
            <a:srgbClr val="E4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bIns="36576"/>
          <a:lstStyle/>
          <a:p>
            <a:pPr algn="ctr">
              <a:spcAft>
                <a:spcPts val="300"/>
              </a:spcAft>
            </a:pPr>
            <a:r>
              <a:rPr sz="1050" b="1"/>
              <a:t>Confidence-Gated Router</a:t>
            </a:r>
          </a:p>
          <a:p>
            <a:r>
              <a:rPr sz="850"/>
              <a:t>≥0.85 → auto-link (no human)</a:t>
            </a:r>
          </a:p>
          <a:p>
            <a:r>
              <a:rPr sz="850"/>
              <a:t>0.65–0.85 → RL-ranked review</a:t>
            </a:r>
          </a:p>
          <a:p>
            <a:r>
              <a:rPr sz="850"/>
              <a:t>&lt;0.65 → agentic clarification</a:t>
            </a:r>
          </a:p>
          <a:p>
            <a:r>
              <a:rPr sz="850"/>
              <a:t>Cascade impact per review item</a:t>
            </a:r>
          </a:p>
          <a:p>
            <a:r>
              <a:rPr sz="850"/>
              <a:t>Conflict → trust resolution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0153497" y="1389888"/>
            <a:ext cx="166969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/>
              <a:t>ACTION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10153497" y="1691640"/>
            <a:ext cx="1669694" cy="1417320"/>
          </a:xfrm>
          <a:prstGeom prst="roundRect">
            <a:avLst/>
          </a:prstGeom>
          <a:solidFill>
            <a:srgbClr val="D3E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bIns="36576"/>
          <a:lstStyle/>
          <a:p>
            <a:pPr algn="ctr">
              <a:spcAft>
                <a:spcPts val="300"/>
              </a:spcAft>
            </a:pPr>
            <a:r>
              <a:rPr sz="1050" b="1"/>
              <a:t>Schedule Update &amp; Alerts</a:t>
            </a:r>
          </a:p>
          <a:p>
            <a:r>
              <a:rPr sz="850"/>
              <a:t>P6 actual dates updated</a:t>
            </a:r>
          </a:p>
          <a:p>
            <a:r>
              <a:rPr sz="850"/>
              <a:t>Gantt variance + risk dashboard</a:t>
            </a:r>
          </a:p>
          <a:p>
            <a:r>
              <a:rPr sz="850"/>
              <a:t>Cascade slip alerts downstream</a:t>
            </a:r>
          </a:p>
          <a:p>
            <a:r>
              <a:rPr sz="850"/>
              <a:t>RL weight sync (persistent)</a:t>
            </a:r>
          </a:p>
          <a:p>
            <a:r>
              <a:rPr sz="850"/>
              <a:t>Full provenance audit trail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2090318" y="2318004"/>
            <a:ext cx="667512" cy="164592"/>
          </a:xfrm>
          <a:prstGeom prst="rightArrow">
            <a:avLst/>
          </a:prstGeom>
          <a:solidFill>
            <a:srgbClr val="84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1921154" y="2016252"/>
            <a:ext cx="1005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/>
              <a:t>raw data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4537252" y="2318004"/>
            <a:ext cx="667512" cy="164592"/>
          </a:xfrm>
          <a:prstGeom prst="rightArrow">
            <a:avLst/>
          </a:prstGeom>
          <a:solidFill>
            <a:srgbClr val="84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4368088" y="2016252"/>
            <a:ext cx="1005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/>
              <a:t>events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6984187" y="2318004"/>
            <a:ext cx="667512" cy="164592"/>
          </a:xfrm>
          <a:prstGeom prst="rightArrow">
            <a:avLst/>
          </a:prstGeom>
          <a:solidFill>
            <a:srgbClr val="84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6815023" y="2016252"/>
            <a:ext cx="1005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/>
              <a:t>match + score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9431121" y="2318004"/>
            <a:ext cx="667512" cy="164592"/>
          </a:xfrm>
          <a:prstGeom prst="rightArrow">
            <a:avLst/>
          </a:prstGeom>
          <a:solidFill>
            <a:srgbClr val="84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9261957" y="2016252"/>
            <a:ext cx="1005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/>
              <a:t>linked</a:t>
            </a:r>
          </a:p>
        </p:txBody>
      </p:sp>
      <p:sp>
        <p:nvSpPr>
          <p:cNvPr id="17428" name="Left Arrow 17427"/>
          <p:cNvSpPr/>
          <p:nvPr/>
        </p:nvSpPr>
        <p:spPr>
          <a:xfrm>
            <a:off x="5844021" y="3236976"/>
            <a:ext cx="2947842" cy="182880"/>
          </a:xfrm>
          <a:prstGeom prst="lef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1828800" y="3456432"/>
            <a:ext cx="8595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/>
              <a:t>Closed-loop intelligence — Active Learning recalibrates matching scores · RL Priority Queue reorders review by project impact · Cascade Engine propagates delay to successor activities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65760" y="3913632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Technology stack — 12,800+ lines of Python, 95 source files, 220 automated tests</a:t>
            </a:r>
          </a:p>
        </p:txBody>
      </p:sp>
      <p:graphicFrame>
        <p:nvGraphicFramePr>
          <p:cNvPr id="17431" name="Table 17430"/>
          <p:cNvGraphicFramePr>
            <a:graphicFrameLocks noGrp="1"/>
          </p:cNvGraphicFramePr>
          <p:nvPr/>
        </p:nvGraphicFramePr>
        <p:xfrm>
          <a:off x="365760" y="4224528"/>
          <a:ext cx="11457432" cy="39851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57400"/>
                <a:gridCol w="3794760"/>
                <a:gridCol w="5605272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/>
                        <a:t>Layer</a:t>
                      </a:r>
                    </a:p>
                  </a:txBody>
                  <a:tcPr marL="54864" marR="54864" marT="13716" marB="13716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/>
                        <a:t>Technology</a:t>
                      </a:r>
                    </a:p>
                  </a:txBody>
                  <a:tcPr marL="54864" marR="54864" marT="13716" marB="13716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/>
                        <a:t>Why this choice</a:t>
                      </a:r>
                    </a:p>
                  </a:txBody>
                  <a:tcPr marL="54864" marR="54864" marT="13716" marB="13716" anchor="ctr">
                    <a:solidFill>
                      <a:srgbClr val="EFEFE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/>
                        <a:t>Event extraction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OpenRouter LLM (free) + regex/keyword fallback · pandas · pdfplumber · httpx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Hybrid: rule-based always runs (zero cost, offline); LLM fills gaps on demand via API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/>
                        <a:t>7-layer matching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Sentence-Transformers (MiniLM-L6-v2, 384-dim) · TF-IDF fallback · cosine similarity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Semantic &gt; keyword for EPC jargon; runs on CPU (no GPU); TF-IDF graceful degradation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/>
                        <a:t>Backend / API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Python 3.12 · FastAPI · Pydantic v2 · JWT HS256 (role-based auth)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Typed REST layer; supervisor/admin roles; 30 API endpoints; &lt;100ms response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/>
                        <a:t>Schedule parsing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P6 XER · P6 XML · MSP XML · CSV — auto-detected by header, not extension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5 parser classes; WBS hierarchy, predecessors/successors, planned dates preserved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/>
                        <a:t>Frontend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Vanilla JS/HTML/CSS · Web Speech API · zero build tools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10 views (Gantt, risk, review queue, audit trail); works offline; large touch targets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900" b="1"/>
                        <a:t>RL + Active Learning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Contextual bandit · online gradient descent (lr=0.05) · feedback store (JSON)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5-feature vector; weights persist to disk; queue reorders after every decision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 wrap="square"/>
                    <a:lstStyle/>
                    <a:p>
                      <a:r>
                        <a:rPr sz="900" b="1"/>
                        <a:t>Cascade impact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BFS successor traversal · predecessor/successor graph from P6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Shows downstream slip before reviewer decides — unique to SYNAPSE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 wrap="square"/>
                    <a:lstStyle/>
                    <a:p>
                      <a:r>
                        <a:rPr sz="900" b="1"/>
                        <a:t>Knowledge base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Vector similarity search · historical CSV · NL query engine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Institutional memory: delay patterns, risk rates, past causes persist across projects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 wrap="square"/>
                    <a:lstStyle/>
                    <a:p>
                      <a:r>
                        <a:rPr sz="900" b="1"/>
                        <a:t>Auth &amp; frontend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JWT HS256 (role-based) · vanilla JS · Web Speech API · FastAPI static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Zero-build UI, supervisor/admin roles, browser-native voice input, works fully offline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850" b="1"/>
                        <a:t>Cascade impact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BFS successor traversal · predecessor/successor graph from P6 schedule data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Unique: shows downstream slip (days, activities, disciplines) before reviewer decides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850" b="1"/>
                        <a:t>Knowledge base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Vector similarity search · 49 historical records · NL query engine · productivity tracker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Institutional memory: delay rates, causes, duration patterns persist across projects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 wrap="square"/>
                    <a:lstStyle/>
                    <a:p>
                      <a:r>
                        <a:rPr sz="850" b="1"/>
                        <a:t>Conflict engine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Cross-source detection · state regression (e.g. completed→in_progress) flagging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/>
                        <a:t>Catches contradictory reports; forces explicit trust resolution with audit trail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100" b="0">
                <a:latin typeface="Arial"/>
              </a:rPr>
              <a:t>The Tachyons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80160"/>
            <a:ext cx="11457432" cy="566928"/>
          </a:xfrm>
          <a:prstGeom prst="roundRect">
            <a:avLst/>
          </a:prstGeom>
          <a:solidFill>
            <a:srgbClr val="DE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ctr"/>
            <a:r>
              <a:rPr sz="1200" b="1"/>
              <a:t>Evidence, not adjectives:  </a:t>
            </a:r>
            <a:r>
              <a:rPr sz="1200"/>
              <a:t>Working prototype — 12,800 lines of Python · 220 passing tests · 30 API endpoints · 41-activity P6 schedule · 49 historical records · 3 daily progress reports · 5 discipline parsers · runs with uvicorn server:app and a browser.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2011680"/>
            <a:ext cx="5596128" cy="1627632"/>
          </a:xfrm>
          <a:prstGeom prst="roundRect">
            <a:avLst/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82296" bIns="54864"/>
          <a:lstStyle/>
          <a:p>
            <a:pPr algn="ctr">
              <a:spcAft>
                <a:spcPts val="400"/>
              </a:spcAft>
            </a:pPr>
            <a:r>
              <a:rPr sz="1300" b="1"/>
              <a:t>Feasibility — can we build it?</a:t>
            </a:r>
          </a:p>
          <a:p>
            <a:r>
              <a:rPr sz="1000"/>
              <a:t>MiniLM matcher (~80 MB) runs on any laptop CPU — no GPU required</a:t>
            </a:r>
          </a:p>
          <a:p>
            <a:r>
              <a:rPr sz="1000"/>
              <a:t>100% open-source stack — zero proprietary scheduling-tool licences</a:t>
            </a:r>
          </a:p>
          <a:p>
            <a:r>
              <a:rPr sz="1000"/>
              <a:t>P6 XER/XML are standard exports — no proprietary API integration</a:t>
            </a:r>
          </a:p>
          <a:p>
            <a:r>
              <a:rPr sz="1000"/>
              <a:t>LLM extraction uses a free model (Gemini 2.0 Flash) — zero API cost</a:t>
            </a:r>
          </a:p>
          <a:p>
            <a:r>
              <a:rPr sz="1000"/>
              <a:t>Works fully offline: rule-based extraction + TF-IDF matching fallback</a:t>
            </a:r>
          </a:p>
          <a:p>
            <a:r>
              <a:rPr sz="1000"/>
              <a:t>Synthetic Oil India dataset (42 activities, 3 DPRs, 25 labelled pairs) ready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27064" y="2011680"/>
            <a:ext cx="5596128" cy="1627632"/>
          </a:xfrm>
          <a:prstGeom prst="roundRect">
            <a:avLst/>
          </a:prstGeom>
          <a:solidFill>
            <a:srgbClr val="E4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82296" bIns="54864"/>
          <a:lstStyle/>
          <a:p>
            <a:pPr algn="ctr">
              <a:spcAft>
                <a:spcPts val="400"/>
              </a:spcAft>
            </a:pPr>
            <a:r>
              <a:rPr sz="1300" b="1"/>
              <a:t>Viability — will it work in practice?</a:t>
            </a:r>
          </a:p>
          <a:p>
            <a:r>
              <a:rPr sz="1000"/>
              <a:t>Zero workflow change — planners submit the same DPRs they already write</a:t>
            </a:r>
          </a:p>
          <a:p>
            <a:r>
              <a:rPr sz="1000"/>
              <a:t>Voice input via browser — supervisor speaks, SYNAPSE understands</a:t>
            </a:r>
          </a:p>
          <a:p>
            <a:r>
              <a:rPr sz="1000"/>
              <a:t>Runs on servers Oil India already operates (on-prem, no cloud dependency)</a:t>
            </a:r>
          </a:p>
          <a:p>
            <a:r>
              <a:rPr sz="1000"/>
              <a:t>Scales from 42-activity pilot to 5,000+ activities (same architecture)</a:t>
            </a:r>
          </a:p>
          <a:p>
            <a:r>
              <a:rPr sz="1000"/>
              <a:t>Human-in-the-loop: only medium-confidence matches need review</a:t>
            </a:r>
          </a:p>
          <a:p>
            <a:r>
              <a:rPr sz="1000"/>
              <a:t>RL queue shrinks review burden as the system learns patterns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3822191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Risks &amp; mitigations — we don't hide them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/>
        </p:nvGraphicFramePr>
        <p:xfrm>
          <a:off x="365760" y="4133087"/>
          <a:ext cx="11457432" cy="2103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29000"/>
                <a:gridCol w="960120"/>
                <a:gridCol w="960120"/>
                <a:gridCol w="6108192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/>
                        <a:t>Risk</a:t>
                      </a:r>
                    </a:p>
                  </a:txBody>
                  <a:tcPr marL="64008" marR="54864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/>
                        <a:t>Prob.</a:t>
                      </a:r>
                    </a:p>
                  </a:txBody>
                  <a:tcPr marL="64008" marR="54864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/>
                        <a:t>Impact</a:t>
                      </a:r>
                    </a:p>
                  </a:txBody>
                  <a:tcPr marL="64008" marR="54864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/>
                        <a:t>Mitigation</a:t>
                      </a:r>
                    </a:p>
                  </a:txBody>
                  <a:tcPr marL="64008" marR="54864" marT="18288" marB="18288" anchor="ctr">
                    <a:solidFill>
                      <a:srgbClr val="EFEFE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/>
                        <a:t>Ambiguous field reports → mis-link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Med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Agentic Clarification asks one targeted question before linking; never guesses silently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/>
                        <a:t>Wrong auto-link corrupts schedule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Med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Only ≥85% auto-links; rest human-reviewed; full audit trail; one-click rollback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/>
                        <a:t>Domain shift — new project terminology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Med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Med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Active Learning recalibrates from reviewer feedback; RL adapts priority weights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/>
                        <a:t>No real Oil India dataset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Med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Synthetic dataset (42 activities, 3 DPRs, 25 labelled pairs); SIH permits synthetic data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/>
                        <a:t>Planner adoption resistance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Low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High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/>
                        <a:t>Augments the planner, doesn't replace them — reviews only medium-confidence items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100" b="0">
                <a:latin typeface="Arial"/>
              </a:rPr>
              <a:t>The Tachyons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80160"/>
            <a:ext cx="11457432" cy="457200"/>
          </a:xfrm>
          <a:prstGeom prst="roundRect">
            <a:avLst/>
          </a:prstGeom>
          <a:solidFill>
            <a:srgbClr val="DE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ctr"/>
            <a:r>
              <a:rPr sz="1150" b="1"/>
              <a:t>Who benefits:  </a:t>
            </a:r>
            <a:r>
              <a:rPr sz="1150"/>
              <a:t>EPC planners &amp; project managers at Oil India Limited — extendable to every PSU running Primavera P6 (ONGC, MRPL, GAIL, NTPC, NHAI). 38+ active EPC projects at OIL alone.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847088"/>
            <a:ext cx="339242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5A5A5A"/>
                </a:solidFill>
                <a:latin typeface="Arial"/>
              </a:rPr>
              <a:t>OUTPUT</a:t>
            </a:r>
            <a:r>
              <a:rPr sz="800" i="1">
                <a:solidFill>
                  <a:srgbClr val="5A5A5A"/>
                </a:solidFill>
                <a:latin typeface="Arial"/>
              </a:rPr>
              <a:t>  ·  what it produces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2084831"/>
            <a:ext cx="3392423" cy="960120"/>
          </a:xfrm>
          <a:prstGeom prst="round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0"/>
              <a:t>200+ daily field events auto-extracted and matched per project</a:t>
            </a:r>
          </a:p>
          <a:p>
            <a:r>
              <a:rPr sz="1000" b="0"/>
              <a:t>Schedule updated in minutes, not days</a:t>
            </a:r>
          </a:p>
          <a:p>
            <a:r>
              <a:rPr sz="1000" b="0"/>
              <a:t>Each review item shows cascade impact on downstream activities before approval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3831335" y="2482596"/>
            <a:ext cx="493775" cy="164592"/>
          </a:xfrm>
          <a:prstGeom prst="rightArrow">
            <a:avLst/>
          </a:prstGeom>
          <a:solidFill>
            <a:srgbClr val="84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398264" y="1847088"/>
            <a:ext cx="339242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5A5A5A"/>
                </a:solidFill>
                <a:latin typeface="Arial"/>
              </a:rPr>
              <a:t>OUTCOME</a:t>
            </a:r>
            <a:r>
              <a:rPr sz="800" i="1">
                <a:solidFill>
                  <a:srgbClr val="5A5A5A"/>
                </a:solidFill>
                <a:latin typeface="Arial"/>
              </a:rPr>
              <a:t>  ·  what changes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398264" y="2084831"/>
            <a:ext cx="3392423" cy="960120"/>
          </a:xfrm>
          <a:prstGeom prst="roundRect">
            <a:avLst/>
          </a:prstGeom>
          <a:solidFill>
            <a:srgbClr val="D3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0"/>
              <a:t>Update lag: 24–72 hrs → near real-time</a:t>
            </a:r>
          </a:p>
          <a:p>
            <a:r>
              <a:rPr sz="1000" b="0"/>
              <a:t>Planner time: 3–5 hrs/day → &lt;30 min</a:t>
            </a:r>
          </a:p>
          <a:p>
            <a:r>
              <a:rPr sz="1000" b="0"/>
              <a:t>Mis-link rate: 10–15% → &lt;2%</a:t>
            </a:r>
          </a:p>
          <a:p>
            <a:r>
              <a:rPr sz="1000" b="0"/>
              <a:t>Review queue: RL-ranked by project impact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7863840" y="2482596"/>
            <a:ext cx="493775" cy="164592"/>
          </a:xfrm>
          <a:prstGeom prst="rightArrow">
            <a:avLst/>
          </a:prstGeom>
          <a:solidFill>
            <a:srgbClr val="84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8430767" y="1847088"/>
            <a:ext cx="3392423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5A5A5A"/>
                </a:solidFill>
                <a:latin typeface="Arial"/>
              </a:rPr>
              <a:t>IMPACT</a:t>
            </a:r>
            <a:r>
              <a:rPr sz="800" i="1">
                <a:solidFill>
                  <a:srgbClr val="5A5A5A"/>
                </a:solidFill>
                <a:latin typeface="Arial"/>
              </a:rPr>
              <a:t>  ·  why it matters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430767" y="2084831"/>
            <a:ext cx="3392423" cy="960120"/>
          </a:xfrm>
          <a:prstGeom prst="round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0"/>
              <a:t>Managers act on live data — fewer idle cranes, fewer cost overruns from stale schedules</a:t>
            </a:r>
          </a:p>
          <a:p>
            <a:r>
              <a:rPr sz="1000" b="0"/>
              <a:t>Cascade prediction enables proactive intervention, not reactive firefighting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65760" y="3273552"/>
            <a:ext cx="2692908" cy="2880360"/>
          </a:xfrm>
          <a:prstGeom prst="roundRect">
            <a:avLst/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bIns="54864"/>
          <a:lstStyle/>
          <a:p>
            <a:pPr algn="l">
              <a:spcAft>
                <a:spcPts val="500"/>
              </a:spcAft>
            </a:pPr>
            <a:r>
              <a:rPr sz="1150" b="1"/>
              <a:t>Economic &amp; human value</a:t>
            </a:r>
          </a:p>
          <a:p>
            <a:r>
              <a:rPr sz="950"/>
              <a:t>3–5 planner-hrs saved per day, per project (≈114 hrs/day across OIL's 38+ EPC projects)</a:t>
            </a:r>
          </a:p>
          <a:p>
            <a:r>
              <a:rPr sz="950"/>
              <a:t>Fewer crane idle-days and schedule-driven cost overruns (each idle crane: ₹2–5 lakh/day)</a:t>
            </a:r>
          </a:p>
          <a:p>
            <a:r>
              <a:rPr sz="950"/>
              <a:t>Planners shift from data entry to engineering decisions</a:t>
            </a:r>
          </a:p>
          <a:p>
            <a:r>
              <a:rPr sz="950"/>
              <a:t>Better project delivery timelines → direct cost saving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87268" y="3273552"/>
            <a:ext cx="2692908" cy="2880360"/>
          </a:xfrm>
          <a:prstGeom prst="roundRect">
            <a:avLst/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bIns="54864"/>
          <a:lstStyle/>
          <a:p>
            <a:pPr algn="l">
              <a:spcAft>
                <a:spcPts val="500"/>
              </a:spcAft>
            </a:pPr>
            <a:r>
              <a:rPr sz="1150" b="1"/>
              <a:t>Trust &amp; governance</a:t>
            </a:r>
          </a:p>
          <a:p>
            <a:r>
              <a:rPr sz="950"/>
              <a:t>Every update fully auditable: report → event → match scores → reviewer decision → schedule change</a:t>
            </a:r>
          </a:p>
          <a:p>
            <a:r>
              <a:rPr sz="950"/>
              <a:t>Multi-source conflict detection flags contradictory reports automatically</a:t>
            </a:r>
          </a:p>
          <a:p>
            <a:r>
              <a:rPr sz="950"/>
              <a:t>Human-in-the-loop keeps false auto-link rate below 2%</a:t>
            </a:r>
          </a:p>
          <a:p>
            <a:r>
              <a:rPr sz="950"/>
              <a:t>RL + Active Learning decisions logged — model behaviour is transparent and explainable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208776" y="3273552"/>
            <a:ext cx="2692908" cy="2880360"/>
          </a:xfrm>
          <a:prstGeom prst="roundRect">
            <a:avLst/>
          </a:prstGeom>
          <a:solidFill>
            <a:srgbClr val="E4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bIns="54864"/>
          <a:lstStyle/>
          <a:p>
            <a:pPr algn="l">
              <a:spcAft>
                <a:spcPts val="500"/>
              </a:spcAft>
            </a:pPr>
            <a:r>
              <a:rPr sz="1150" b="1"/>
              <a:t>Foresight &amp; institutional memory</a:t>
            </a:r>
          </a:p>
          <a:p>
            <a:r>
              <a:rPr sz="950"/>
              <a:t>Retains variance, delay causes &amp; productivity after every project closes</a:t>
            </a:r>
          </a:p>
          <a:p>
            <a:r>
              <a:rPr sz="950"/>
              <a:t>Natural-language queries: 'Which piping activities delay most often?'</a:t>
            </a:r>
          </a:p>
          <a:p>
            <a:r>
              <a:rPr sz="950"/>
              <a:t>Cascade impact turns reactive recording into predictive planning</a:t>
            </a:r>
          </a:p>
          <a:p>
            <a:r>
              <a:rPr sz="950"/>
              <a:t>Risk alerts: e.g. 'Piping erection historically delays 68% of the time — suggest +2 day buffer'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130284" y="3273552"/>
            <a:ext cx="2692908" cy="2880360"/>
          </a:xfrm>
          <a:prstGeom prst="roundRect">
            <a:avLst/>
          </a:prstGeom>
          <a:solidFill>
            <a:srgbClr val="E4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bIns="54864"/>
          <a:lstStyle/>
          <a:p>
            <a:pPr algn="l">
              <a:spcAft>
                <a:spcPts val="500"/>
              </a:spcAft>
            </a:pPr>
            <a:r>
              <a:rPr sz="1150" b="1"/>
              <a:t>National reach &amp; scale</a:t>
            </a:r>
          </a:p>
          <a:p>
            <a:r>
              <a:rPr sz="950"/>
              <a:t>Open-source core, no foreign-software lock-in — Make in India, Digital India aligned</a:t>
            </a:r>
          </a:p>
          <a:p>
            <a:r>
              <a:rPr sz="950"/>
              <a:t>Pilot: 1 OIL project → 38+ OIL projects → all PSUs on Primavera P6</a:t>
            </a:r>
          </a:p>
          <a:p>
            <a:r>
              <a:rPr sz="950"/>
              <a:t>Same architecture scales from 42 to 5,000+ activities</a:t>
            </a:r>
          </a:p>
          <a:p>
            <a:r>
              <a:rPr sz="950"/>
              <a:t>Zero new formats — supervisors keep writing DPRs exactly as today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sz="1100" b="0">
                <a:latin typeface="Arial"/>
              </a:rPr>
              <a:t>The Tachyons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371600"/>
            <a:ext cx="5532120" cy="4754880"/>
          </a:xfrm>
          <a:prstGeom prst="roundRect">
            <a:avLst/>
          </a:prstGeom>
          <a:solidFill>
            <a:srgbClr val="E1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73152"/>
          <a:lstStyle/>
          <a:p>
            <a:pPr algn="ctr">
              <a:spcAft>
                <a:spcPts val="700"/>
              </a:spcAft>
            </a:pPr>
            <a:r>
              <a:rPr sz="1400" b="1"/>
              <a:t>What our research establishes</a:t>
            </a:r>
          </a:p>
          <a:p>
            <a:r>
              <a:rPr sz="1100" b="1"/>
              <a:t>Problem is real — </a:t>
            </a:r>
            <a:r>
              <a:rPr sz="1100"/>
              <a:t>EPC planners spend 3–5 hrs/day manually reconciling site reports against schedules with 500–5,000 activities. Updates reach the schedule 24–72 hrs late.</a:t>
            </a:r>
          </a:p>
          <a:p>
            <a:r>
              <a:rPr sz="1100" b="1"/>
              <a:t>Prior tools fail — </a:t>
            </a:r>
            <a:r>
              <a:rPr sz="1100"/>
              <a:t>Primavera P6 and MS Project are powerful planning tools, but capture site progress only through manual entry. No NLP, no auto-linking, no learning.</a:t>
            </a:r>
          </a:p>
          <a:p>
            <a:r>
              <a:rPr sz="1100" b="1"/>
              <a:t>The gap — </a:t>
            </a:r>
            <a:r>
              <a:rPr sz="1100"/>
              <a:t>No existing EPC tool reads free-text reports, auto-links them to schedule activities, clarifies ambiguity, predicts cascade impact, detects cross-source conflicts, or learns from corrections.</a:t>
            </a:r>
          </a:p>
          <a:p>
            <a:r>
              <a:rPr sz="1100" b="1"/>
              <a:t>Why our method works — </a:t>
            </a:r>
            <a:r>
              <a:rPr sz="1100"/>
              <a:t>Sentence-BERT semantic matching (Reimers &amp; Gurevych, 2019), contextual bandits (Li et al., 2010), and BFS graph analysis are individually established — SYNAPSE combines them for EPC reconciliation.</a:t>
            </a:r>
          </a:p>
          <a:p>
            <a:r>
              <a:rPr sz="1100" b="1"/>
              <a:t>Validated — </a:t>
            </a:r>
            <a:r>
              <a:rPr sz="1100"/>
              <a:t>Synthetic Oil India dataset: 42 L5/L6 activities across 5 disciplines, 3 daily progress reports, 49 historical records, 25 labelled match pairs. 220 automated tests passing.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08192" y="1371600"/>
            <a:ext cx="5715000" cy="4754880"/>
          </a:xfrm>
          <a:prstGeom prst="roundRect">
            <a:avLst/>
          </a:prstGeom>
          <a:solidFill>
            <a:srgbClr val="E4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/>
              <a:t>References — authoritative sources only</a:t>
            </a:r>
          </a:p>
          <a:p>
            <a:r>
              <a:rPr sz="1050" b="1"/>
              <a:t>PROBLEM EVIDENCE</a:t>
            </a:r>
          </a:p>
          <a:p>
            <a:r>
              <a:rPr sz="1000"/>
              <a:t>Oil India Limited — annual reports &amp; EPC project documentation</a:t>
            </a:r>
          </a:p>
          <a:p>
            <a:r>
              <a:rPr sz="1000"/>
              <a:t>EPC schedule-management industry reports (manual reconciliation workflow)</a:t>
            </a:r>
          </a:p>
          <a:p>
            <a:r>
              <a:rPr sz="1000"/>
              <a:t/>
            </a:r>
          </a:p>
          <a:p>
            <a:r>
              <a:rPr sz="1050" b="1"/>
              <a:t>STATE OF THE ART</a:t>
            </a:r>
          </a:p>
          <a:p>
            <a:r>
              <a:rPr sz="1000"/>
              <a:t>Reimers &amp; Gurevych (2019), Sentence-BERT: Sentence Embeddings using Siamese Networks — EMNLP</a:t>
            </a:r>
          </a:p>
          <a:p>
            <a:r>
              <a:rPr sz="1000"/>
              <a:t>Settles (2009), Active Learning Literature Survey — University of Wisconsin–Madison TR-1648</a:t>
            </a:r>
          </a:p>
          <a:p>
            <a:r>
              <a:rPr sz="1000"/>
              <a:t>Li, Chu, Langford &amp; Schapire (2010), A Contextual-Bandit Approach to Personalized Recommendation — WWW</a:t>
            </a:r>
          </a:p>
          <a:p>
            <a:r>
              <a:rPr sz="1000"/>
              <a:t>Oracle Corporation, Primavera P6 EPPM documentation (manual data-entry workflow)</a:t>
            </a:r>
          </a:p>
          <a:p>
            <a:r>
              <a:rPr sz="1000"/>
              <a:t/>
            </a:r>
          </a:p>
          <a:p>
            <a:r>
              <a:rPr sz="1050" b="1"/>
              <a:t>IMPLEMENTATION</a:t>
            </a:r>
          </a:p>
          <a:p>
            <a:r>
              <a:rPr sz="1000"/>
              <a:t>Hugging Face — sentence-transformers / all-MiniLM-L6-v2 (384-dim, Apache 2.0)</a:t>
            </a:r>
          </a:p>
          <a:p>
            <a:r>
              <a:rPr sz="1000"/>
              <a:t>Oracle — Primavera P6 XER export format specification</a:t>
            </a:r>
          </a:p>
          <a:p>
            <a:r>
              <a:rPr sz="1000"/>
              <a:t>github.com/Amrithalekshmy/synapse — full source code + synthetic dataset (open-source)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