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Problem Statement ID – </a:t>
            </a:r>
            <a:r>
              <a:rPr sz="1300">
                <a:solidFill>
                  <a:srgbClr val="FFFFFF"/>
                </a:solidFill>
                <a:latin typeface="Arial"/>
              </a:rPr>
              <a:t>SIH26122</a:t>
            </a:r>
            <a:endParaRPr lang="en-US" dirty="0"/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Problem Statement Title – </a:t>
            </a:r>
            <a:r>
              <a:rPr sz="1300">
                <a:solidFill>
                  <a:srgbClr val="FFFFFF"/>
                </a:solidFill>
                <a:latin typeface="Arial"/>
              </a:rPr>
              <a:t>Context-Aware L5/L6 Schedule Reconciliation via Intelligent Field Progress Capture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Theme – </a:t>
            </a:r>
            <a:r>
              <a:rPr sz="1300">
                <a:solidFill>
                  <a:srgbClr val="FFFFFF"/>
                </a:solidFill>
                <a:latin typeface="Arial"/>
              </a:rPr>
              <a:t>Smart Automation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PS Category – </a:t>
            </a:r>
            <a:r>
              <a:rPr sz="1300">
                <a:solidFill>
                  <a:srgbClr val="FFFFFF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Team ID – </a:t>
            </a:r>
            <a:r>
              <a:rPr sz="1300">
                <a:solidFill>
                  <a:srgbClr val="FFFFFF"/>
                </a:solidFill>
                <a:latin typeface="Arial"/>
              </a:rPr>
              <a:t>[Team ID]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Arial"/>
              </a:rPr>
              <a:t>Team Name – </a:t>
            </a:r>
            <a:r>
              <a:rPr sz="1300">
                <a:solidFill>
                  <a:srgbClr val="FFFFFF"/>
                </a:solidFill>
                <a:latin typeface="Arial"/>
              </a:rPr>
              <a:t>Tachyons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3200" b="1">
                <a:solidFill>
                  <a:srgbClr val="1F3964"/>
                </a:solidFill>
                <a:latin typeface="Times New Roman"/>
              </a:rPr>
              <a:t>SYNAPSE — AI-Powered Field Progress to Schedule Reconciliation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09600" y="1080000"/>
            <a:ext cx="10980400" cy="36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1. 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09600" y="1440000"/>
            <a:ext cx="109804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latin typeface="Arial"/>
              </a:rPr>
              <a:t>SYNAPSE is an AI-powered system that converts unstructured field progress reports (DPRs, site diaries, discipline spreadsheets, supervisor voice/text inputs) into structured execution events and automatically links them to the correct L5/L6 schedule activities in Primavera P6. It extracts execution events, matches using a 7-layer contextual model, handles uncertainty through a human-in-the-loop clarification agent, and updates the schedule with a full audit trail and analytics.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09600" y="2280000"/>
            <a:ext cx="10980400" cy="36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2. HOW IT ADDRESSES THE PROBLEM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09600" y="2640000"/>
            <a:ext cx="109804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• Eliminates manual reconciliation of unstructured field reports with schedule activities.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Reduces planner effort from 3–5 hours/day to less than 30 minutes/day.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Minimises mis-linking and errors using multi-layer contextual matching and confidence thresholds.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Provides near real-time progress visibility for monitoring, delay analysis and forecasting.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Creates structured historical data for analytics, risk prediction and institutional memory.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09600" y="3480000"/>
            <a:ext cx="10980400" cy="36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3. INNOVATION AND UNIQUENESS OF THE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609600" y="3840000"/>
            <a:ext cx="1098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• 7-Layer Contextual Matching: Semantic similarity with identifier, discipline, location, WBS, temporal and dependency context for accurate activity mapping.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Human-in-the-Loop Adaptive Agent: Decides to auto-link, ask clarification, escalate or flag new activity based on confidence; learns from planner feedback.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End-to-End Integration: Data ingestion → schedule update → audit trail → analytics in a single workflow.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Active Learning from Feedback: Planner decisions continuously improve matching accuracy and decision policy.</a:t>
            </a:r>
          </a:p>
          <a:p>
            <a:r>
              <a:rPr sz="1100">
                <a:solidFill>
                  <a:srgbClr val="000000"/>
                </a:solidFill>
                <a:latin typeface="Arial"/>
              </a:rPr>
              <a:t>• Explainable &amp; Safe: Confidence scores, reasons, audit trail and controlled updates ensure trust and reliability.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09600" y="4770000"/>
            <a:ext cx="10980400" cy="153000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1F3964"/>
                </a:solidFill>
                <a:latin typeface="Arial"/>
              </a:rPr>
              <a:t>SYNAPSE — bridging the execution–schedule gap:   </a:t>
            </a:r>
            <a:r>
              <a:rPr sz="1100" b="0">
                <a:solidFill>
                  <a:srgbClr val="1F3964"/>
                </a:solidFill>
                <a:latin typeface="Arial"/>
              </a:rPr>
              <a:t>3–5 hrs/day → &lt;30 min</a:t>
            </a:r>
            <a:r>
              <a:rPr sz="1100">
                <a:solidFill>
                  <a:srgbClr val="1F3964"/>
                </a:solidFill>
                <a:latin typeface="Arial"/>
              </a:rPr>
              <a:t>  ▪  </a:t>
            </a:r>
            <a:r>
              <a:rPr sz="1100" b="0">
                <a:solidFill>
                  <a:srgbClr val="1F3964"/>
                </a:solidFill>
                <a:latin typeface="Arial"/>
              </a:rPr>
              <a:t>24–72 hrs lag → Near real-time</a:t>
            </a:r>
            <a:r>
              <a:rPr sz="1100">
                <a:solidFill>
                  <a:srgbClr val="1F3964"/>
                </a:solidFill>
                <a:latin typeface="Arial"/>
              </a:rPr>
              <a:t>  ▪  </a:t>
            </a:r>
            <a:r>
              <a:rPr sz="1100" b="0">
                <a:solidFill>
                  <a:srgbClr val="1F3964"/>
                </a:solidFill>
                <a:latin typeface="Arial"/>
              </a:rPr>
              <a:t>10–15% mis-link → &lt;2%</a:t>
            </a:r>
            <a:r>
              <a:rPr sz="1100">
                <a:solidFill>
                  <a:srgbClr val="1F3964"/>
                </a:solidFill>
                <a:latin typeface="Arial"/>
              </a:rPr>
              <a:t>  ▪  </a:t>
            </a:r>
            <a:r>
              <a:rPr sz="1100" b="0">
                <a:solidFill>
                  <a:srgbClr val="1F3964"/>
                </a:solidFill>
                <a:latin typeface="Arial"/>
              </a:rPr>
              <a:t>Manual workflow → Automated + HITL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200" b="1">
                <a:solidFill>
                  <a:srgbClr val="1F3964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Tachyons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09600" y="1080000"/>
            <a:ext cx="10980400" cy="36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1. SYSTEM ARCHITECTURE — 8-Stage Pipeline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09600" y="1440000"/>
            <a:ext cx="5460200" cy="24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1. INPUT SOURCES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9600" y="1680000"/>
            <a:ext cx="5460200" cy="290000"/>
          </a:xfrm>
          <a:prstGeom prst="rect">
            <a:avLst/>
          </a:prstGeom>
          <a:solidFill>
            <a:srgbClr val="DDEBF7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DPRs (PDF/Excel/Text) · Site Diaries / Supervisor Notes · Discipline Spreadsheets · Messages/Emails · Other Project Documents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9600" y="1990000"/>
            <a:ext cx="5460200" cy="24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2. INGESTION &amp; PREPROCESSING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09600" y="2230000"/>
            <a:ext cx="5460200" cy="290000"/>
          </a:xfrm>
          <a:prstGeom prst="rect">
            <a:avLst/>
          </a:prstGeom>
          <a:solidFill>
            <a:srgbClr val="DDEBF7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Document Ingestion → Data Cleaning &amp; Normalisation → OCR (if needed) → Text Segmentation &amp; Chunking → Metadata Extraction (Date, Discipline, Location)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09600" y="2540000"/>
            <a:ext cx="5460200" cy="24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3. EVENT EXTRACTION (What happened?)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9600" y="2780000"/>
            <a:ext cx="5460200" cy="290000"/>
          </a:xfrm>
          <a:prstGeom prst="rect">
            <a:avLst/>
          </a:prstGeom>
          <a:solidFill>
            <a:srgbClr val="DDEBF7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LLM/NLP Model + Rule-based fallback → Extracted Events: Activities, Quantities, Location, Resources, Dates, Status
Example: 'Excavation completed · Rebar fixing done · Concrete poured'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09600" y="3090000"/>
            <a:ext cx="5460200" cy="24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4. CONTEXTUAL ACTIVITY MATCHING (Which L5/L6?)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09600" y="3330000"/>
            <a:ext cx="5460200" cy="290000"/>
          </a:xfrm>
          <a:prstGeom prst="rect">
            <a:avLst/>
          </a:prstGeom>
          <a:solidFill>
            <a:srgbClr val="DDEBF7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7-Layer Matching: ① Semantic Similarity ② Activity Identifier ③ Discipline ④ Location/Zone ⑤ WBS/Hierarchy ⑥ Temporal Context ⑦ Dependency → Best Match + Confidence Score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29800" y="1440000"/>
            <a:ext cx="5460200" cy="24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5. DECISION &amp; HUMAN-IN-THE-LOOP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29800" y="1680000"/>
            <a:ext cx="5460200" cy="29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HIGH confidence (≥ 0.85) → Auto-link
MEDIUM confidence → Ask Clarification / Human Review
LOW confidence (&lt; 0.65) → Escalate to Planner / Create New Activity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129800" y="1990000"/>
            <a:ext cx="5460200" cy="24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6. SCHEDULE UPDATE &amp; AUDIT TRAIL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9800" y="2230000"/>
            <a:ext cx="5460200" cy="29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Update Primavera P6 Actuals (% Complete, Status, Dates) · Audit Trail: Who, What, When, Confidence, Reason · Versioning &amp; Change History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129800" y="2540000"/>
            <a:ext cx="5460200" cy="24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7. ANALYTICS &amp; REPORTING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129800" y="2780000"/>
            <a:ext cx="5460200" cy="29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Progress Dashboards (Real-time Visibility) · Delay / Variance Analysis · Risk Indicators · Institutional Memory (Knowledge Base)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29800" y="3090000"/>
            <a:ext cx="5460200" cy="24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8. FEEDBACK &amp; LEARNING LOOP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29800" y="3330000"/>
            <a:ext cx="5460200" cy="29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Arial"/>
              </a:rPr>
              <a:t>Human Feedback → Store Labelled Pairs → Active Learning (Select Uncertain Cases) → Model/Policy Update → Improved Matching &amp; Decision Policy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09600" y="3680000"/>
            <a:ext cx="10980400" cy="32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2. TECHNOLOGY STACK</a:t>
            </a:r>
          </a:p>
        </p:txBody>
      </p:sp>
      <p:graphicFrame>
        <p:nvGraphicFramePr>
          <p:cNvPr id="17429" name="Table 17428"/>
          <p:cNvGraphicFramePr>
            <a:graphicFrameLocks noGrp="1"/>
          </p:cNvGraphicFramePr>
          <p:nvPr/>
        </p:nvGraphicFramePr>
        <p:xfrm>
          <a:off x="609600" y="4000000"/>
          <a:ext cx="109804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80"/>
                <a:gridCol w="3623532"/>
                <a:gridCol w="5160788"/>
              </a:tblGrid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User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HTML + CSS + Vanilla 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Planner dashboard, review screen, clarification/approval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Backend / API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Python + FastAPI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REST APIs, workflow orchestration, communication between modules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Data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Structured validation of extracted ExecutionEvent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Document Processing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pandas + pdfplumber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Processing DPRs, discipline spreadsheets and PDF reports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Event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LLM/NLP + Rule-based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Extract activity, location, discipline, dates,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Semantic Matching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Sentence-Transformers / MiniLM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Semantic similarity between field events and L5/L6 activities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25555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Contextual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Python scoring engine (7-layer)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Combine semantic, identifier, discipline, WBS, temporal,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55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Decision Engine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Confidence-based Router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Auto-link, ask clarification, escalate or flag new activity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200" b="1">
                <a:solidFill>
                  <a:srgbClr val="1F3964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09600" y="1080000"/>
            <a:ext cx="3239218" cy="38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1. TECHNICAL FEASIBILITY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78818" y="1080000"/>
            <a:ext cx="3239218" cy="38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2. OPERATIONAL 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148036" y="1080000"/>
            <a:ext cx="4441964" cy="38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3. KEY RISKS &amp; MITIGATION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9600" y="1480000"/>
            <a:ext cx="3239218" cy="432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CPU-based MiniLM semantic matching; no GPU required for the MVP.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Python + FastAPI + Pydantic backend; pandas / pdfplumber for DPR and spreadsheet processing.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P6 schedule data consumed through controlled export/import; production can use P6 API where available.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Prototype demonstrated on a 42-activity schedule with 3 days of daily progress reports and 49 historical records.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100% open-source stack — zero proprietary scheduling-tool licences.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Works fully offline: rule-based extraction + TF-IDF matching fallback active at all times.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78818" y="1480000"/>
            <a:ext cx="3239218" cy="4320000"/>
          </a:xfrm>
          <a:prstGeom prst="rect">
            <a:avLst/>
          </a:prstGeom>
          <a:solidFill>
            <a:srgbClr val="DDEBF7"/>
          </a:solidFill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Fits the existing planner workflow: AI assists; planner retains control over uncertain cases.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Confidence routing: high → auto-link; medium → clarification/HITL; low → planner review / new activity.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Every approved update records confidence, reason, user and timestamp for full auditability.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Scales from the prototype to large L5/L6 schedules with candidate retrieval and vector search.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Zero workflow change — supervisors submit the same DPRs they already write.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Voice input via browser — supervisor speaks, SYNAPSE understands (Web Speech API).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7148036" y="1480000"/>
          <a:ext cx="4441963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946"/>
                <a:gridCol w="710714"/>
                <a:gridCol w="2043303"/>
              </a:tblGrid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Ambiguous field language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7-layer contextual matching + targeted clarification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Wrong auto-link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Conservative threshold + HITL + audit trail +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Domain shift / limited labelled data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Active learning from planner feedback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No live OIL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Synthetic dataset (42 activities, 3 DPRs, 25 labelled pairs)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rial"/>
                        </a:rPr>
                        <a:t>Planner adoption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Arial"/>
                        </a:rPr>
                        <a:t>Augments, not replaces, planner decisions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7417" name="TextBox 17416"/>
          <p:cNvSpPr txBox="1"/>
          <p:nvPr/>
        </p:nvSpPr>
        <p:spPr>
          <a:xfrm>
            <a:off x="609600" y="5860000"/>
            <a:ext cx="10980400" cy="44000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3964"/>
                </a:solidFill>
                <a:latin typeface="Arial"/>
              </a:rPr>
              <a:t>FEASIBLE MVP TODAY    •    SCALABLE PRODUCTION PATH    •    HUMAN-CONTROLLED AI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200" b="1">
                <a:solidFill>
                  <a:srgbClr val="1F3964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09600" y="1080000"/>
            <a:ext cx="2964708" cy="380000"/>
          </a:xfrm>
          <a:prstGeom prst="rect">
            <a:avLst/>
          </a:prstGeom>
          <a:solidFill>
            <a:srgbClr val="37861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 POTENTIAL IMPACT ON TARGET AUDIENCE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04308" y="1080000"/>
            <a:ext cx="4392160" cy="38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2. BENEFITS OF THE SOLUTION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026468" y="1080000"/>
            <a:ext cx="3563532" cy="38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3. SDG ALIGNMENT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9600" y="1480000"/>
            <a:ext cx="2964708" cy="4150000"/>
          </a:xfrm>
          <a:prstGeom prst="rect">
            <a:avLst/>
          </a:prstGeom>
          <a:solidFill>
            <a:srgbClr val="E2EFDA"/>
          </a:solidFill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Project Planners / Engineers
</a:t>
            </a:r>
            <a:r>
              <a:rPr sz="950">
                <a:solidFill>
                  <a:srgbClr val="000000"/>
                </a:solidFill>
                <a:latin typeface="Arial"/>
              </a:rPr>
              <a:t>3–5× faster reconciliation; more time for planning and decision-making; reduced manual effort.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Management
</a:t>
            </a:r>
            <a:r>
              <a:rPr sz="950">
                <a:solidFill>
                  <a:srgbClr val="000000"/>
                </a:solidFill>
                <a:latin typeface="Arial"/>
              </a:rPr>
              <a:t>Real-time visibility into project execution; earlier delay detection and better control.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Field Teams
</a:t>
            </a:r>
            <a:r>
              <a:rPr sz="950">
                <a:solidFill>
                  <a:srgbClr val="000000"/>
                </a:solidFill>
                <a:latin typeface="Arial"/>
              </a:rPr>
              <a:t>Less back-and-forth for clarifications; clearer communication and faster approvals.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Organisation
</a:t>
            </a:r>
            <a:r>
              <a:rPr sz="950">
                <a:solidFill>
                  <a:srgbClr val="000000"/>
                </a:solidFill>
                <a:latin typeface="Arial"/>
              </a:rPr>
              <a:t>Improved data quality, auditability and institutional memory across projects.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End Clients / Stakeholders
</a:t>
            </a:r>
            <a:r>
              <a:rPr sz="950">
                <a:solidFill>
                  <a:srgbClr val="000000"/>
                </a:solidFill>
                <a:latin typeface="Arial"/>
              </a:rPr>
              <a:t>Projects delivered on schedule with better transparency and reliability.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3604308" y="1480000"/>
          <a:ext cx="4392160" cy="4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256"/>
                <a:gridCol w="2854904"/>
              </a:tblGrid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Benefit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Time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Reduces planner effort from 3–5 hrs/day to &lt;30 minutes/day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Higher Accuracy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Multi-layer matching + confidence routing minimises mis-linking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Real-time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Near real-time updates enable proactive delay &amp; risk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Better Decisions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Data-driven insights for planning, resource allocation &amp; forecasting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Data Quality &amp; Auditability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Every update captured with confidence, reason &amp;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Scalability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Works for small projects; scales to large L5/L6 schedules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Cost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Reduces rework, delays and escalations → lower project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1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Knowledge Retention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Creates structured historical data; learns from planner feedback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8026468" y="1480000"/>
            <a:ext cx="3563532" cy="4150000"/>
          </a:xfrm>
          <a:prstGeom prst="rect">
            <a:avLst/>
          </a:prstGeom>
          <a:solidFill>
            <a:srgbClr val="E2D9F3"/>
          </a:solidFill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SDG 9: Industry, Innovation &amp; Infrastructure
</a:t>
            </a:r>
            <a:r>
              <a:rPr sz="900">
                <a:solidFill>
                  <a:srgbClr val="000000"/>
                </a:solidFill>
                <a:latin typeface="Arial"/>
              </a:rPr>
              <a:t>Resilient infrastructure through AI-powered project management and digital transformation.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SDG 8: Decent Work &amp; Economic Growth
</a:t>
            </a:r>
            <a:r>
              <a:rPr sz="900">
                <a:solidFill>
                  <a:srgbClr val="000000"/>
                </a:solidFill>
                <a:latin typeface="Arial"/>
              </a:rPr>
              <a:t>Improves productivity, reduces manual effort and delays, leading to efficient use of resources.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SDG 12: Responsible Consumption &amp; Production
</a:t>
            </a:r>
            <a:r>
              <a:rPr sz="900">
                <a:solidFill>
                  <a:srgbClr val="000000"/>
                </a:solidFill>
                <a:latin typeface="Arial"/>
              </a:rPr>
              <a:t>Optimises resource utilisation, reduces waste and promotes efficient project execution.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SDG 13: Climate Action
</a:t>
            </a:r>
            <a:r>
              <a:rPr sz="900">
                <a:solidFill>
                  <a:srgbClr val="000000"/>
                </a:solidFill>
                <a:latin typeface="Arial"/>
              </a:rPr>
              <a:t>Better planning &amp; monitoring, helping reduce resource and carbon footprint.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F3964"/>
                </a:solidFill>
                <a:latin typeface="Arial"/>
              </a:rPr>
              <a:t>SDG 17: Partnerships for the Goals
</a:t>
            </a:r>
            <a:r>
              <a:rPr sz="900">
                <a:solidFill>
                  <a:srgbClr val="000000"/>
                </a:solidFill>
                <a:latin typeface="Arial"/>
              </a:rPr>
              <a:t>Strengthens collaboration between field teams, planners and stakeholders through data-driven workflows.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9600" y="5680000"/>
            <a:ext cx="10980400" cy="62000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964"/>
                </a:solidFill>
                <a:latin typeface="Arial"/>
              </a:rPr>
              <a:t>OVERALL IMPACT: </a:t>
            </a:r>
            <a:r>
              <a:rPr sz="1100">
                <a:solidFill>
                  <a:srgbClr val="1F3964"/>
                </a:solidFill>
                <a:latin typeface="Arial"/>
              </a:rPr>
              <a:t>SYNAPSE transforms unstructured field reports into trusted, real-time execution intelligence — enabling smarter decisions, on-time delivery and sustainable infrastructure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3200" b="1">
                <a:solidFill>
                  <a:srgbClr val="1F3964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Tachyons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09600" y="1080000"/>
            <a:ext cx="10980400" cy="360000"/>
          </a:xfrm>
          <a:prstGeom prst="rect">
            <a:avLst/>
          </a:prstGeom>
          <a:solidFill>
            <a:srgbClr val="1F3964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1. WHAT OUR RESEARCH ESTABLISHES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09600" y="1440000"/>
            <a:ext cx="109804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1">
                <a:solidFill>
                  <a:srgbClr val="1F3964"/>
                </a:solidFill>
                <a:latin typeface="Arial"/>
              </a:rPr>
              <a:t>• Problem is real — </a:t>
            </a:r>
            <a:r>
              <a:rPr sz="1100">
                <a:solidFill>
                  <a:srgbClr val="000000"/>
                </a:solidFill>
                <a:latin typeface="Arial"/>
              </a:rPr>
              <a:t>EPC planners spend 3–5 hrs/day manually reconciling site reports against schedules with 500–5,000 activities; updates reach the schedule 24–72 hrs late.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1F3964"/>
                </a:solidFill>
                <a:latin typeface="Arial"/>
              </a:rPr>
              <a:t>• Prior tools fail — </a:t>
            </a:r>
            <a:r>
              <a:rPr sz="1100">
                <a:solidFill>
                  <a:srgbClr val="000000"/>
                </a:solidFill>
                <a:latin typeface="Arial"/>
              </a:rPr>
              <a:t>Primavera P6 and MS Project capture site progress only through manual entry. No NLP, no auto-linking, no learning.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1F3964"/>
                </a:solidFill>
                <a:latin typeface="Arial"/>
              </a:rPr>
              <a:t>• The gap — </a:t>
            </a:r>
            <a:r>
              <a:rPr sz="1100">
                <a:solidFill>
                  <a:srgbClr val="000000"/>
                </a:solidFill>
                <a:latin typeface="Arial"/>
              </a:rPr>
              <a:t>No existing EPC tool reads free-text reports, auto-links them to L5/L6 activities, clarifies ambiguity, detects cross-source conflicts, or learns from corrections.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1F3964"/>
                </a:solidFill>
                <a:latin typeface="Arial"/>
              </a:rPr>
              <a:t>• Why our method works — </a:t>
            </a:r>
            <a:r>
              <a:rPr sz="1100">
                <a:solidFill>
                  <a:srgbClr val="000000"/>
                </a:solidFill>
                <a:latin typeface="Arial"/>
              </a:rPr>
              <a:t>Sentence-BERT semantic matching (Reimers &amp; Gurevych, 2019), contextual bandits (Li et al., 2010), and BFS graph analysis are individually established — SYNAPSE combines them for EPC reconciliation.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1F3964"/>
                </a:solidFill>
                <a:latin typeface="Arial"/>
              </a:rPr>
              <a:t>• Validated — </a:t>
            </a:r>
            <a:r>
              <a:rPr sz="1100">
                <a:solidFill>
                  <a:srgbClr val="000000"/>
                </a:solidFill>
                <a:latin typeface="Arial"/>
              </a:rPr>
              <a:t>Synthetic Oil India dataset: 42 L5/L6 activities, 5 disciplines, 3 DPRs, 49 historical records, 25 labelled match pairs. 220 automated tests passing.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9600" y="3690000"/>
            <a:ext cx="10980400" cy="36000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2. REFERENCES — AUTHORITATIVE SOURCES ONLY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9600" y="4050000"/>
            <a:ext cx="1098040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050" b="1">
                <a:solidFill>
                  <a:srgbClr val="0070C0"/>
                </a:solidFill>
                <a:latin typeface="Arial"/>
              </a:rPr>
              <a:t>▶ PROBLEM EVIDENCE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Oil India Limited — Annual Reports &amp; EPC Project Documentation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EPC Schedule Management Industry Reports (manual reconciliation workflow)</a:t>
            </a:r>
          </a:p>
          <a:p>
            <a:r>
              <a:t/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0C0"/>
                </a:solidFill>
                <a:latin typeface="Arial"/>
              </a:rPr>
              <a:t>▶ STATE OF THE ART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Reimers &amp; Gurevych (2019), Sentence-BERT: Sentence Embeddings using Siamese Networks — EMNLP 2019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Settles (2009), Active Learning Literature Survey — University of Wisconsin–Madison, TR-1648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Li, Chu, Langford &amp; Schapire (2010), A Contextual-Bandit Approach to Personalized Recommendation — WWW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Oracle Corporation — Primavera P6 EPPM Documentation (manual data-entry workflow)</a:t>
            </a:r>
          </a:p>
          <a:p>
            <a:r>
              <a:t/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070C0"/>
                </a:solidFill>
                <a:latin typeface="Arial"/>
              </a:rPr>
              <a:t>▶ IMPLEMENTATION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Hugging Face — sentence-transformers/all-MiniLM-L6-v2 (384-dim, Apache 2.0)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Oracle — Primavera P6 XER Export Format Specification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  • github.com/Amrithalekshmy/synapse — Full source code + synthetic dataset (open-source)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